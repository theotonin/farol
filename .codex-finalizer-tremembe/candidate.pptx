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5cc709d8ee4c8f" /><Relationship Type="http://schemas.openxmlformats.org/officeDocument/2006/relationships/extended-properties" Target="/docProps/app.xml" Id="R0eb459f3688048ea" /><Relationship Type="http://schemas.openxmlformats.org/officeDocument/2006/relationships/officeDocument" Target="/ppt/presentation.xml" Id="Rd85a08363c2f41fc" /></Relationships>
</file>

<file path=ppt/presentation.xml><?xml version="1.0" encoding="utf-8"?>
<p:presentation xmlns:p="http://schemas.openxmlformats.org/presentationml/2006/main">
  <p:sldMasterIdLst>
    <p:sldMasterId xmlns:r="http://schemas.openxmlformats.org/officeDocument/2006/relationships" id="2147483648" r:id="R17cc72b3ecdb495b"/>
  </p:sldMasterIdLst>
  <p:notesMasterIdLst>
    <p:notesMasterId xmlns:r="http://schemas.openxmlformats.org/officeDocument/2006/relationships" r:id="Reb9b27e5a7da42f4"/>
  </p:notesMasterIdLst>
  <p:sldIdLst>
    <p:sldId xmlns:r="http://schemas.openxmlformats.org/officeDocument/2006/relationships" id="256" r:id="Racaf34ab5f6f45d8"/>
    <p:sldId xmlns:r="http://schemas.openxmlformats.org/officeDocument/2006/relationships" id="257" r:id="R21c66bdc102d4722"/>
    <p:sldId xmlns:r="http://schemas.openxmlformats.org/officeDocument/2006/relationships" id="258" r:id="R3c89809cbf144856"/>
    <p:sldId xmlns:r="http://schemas.openxmlformats.org/officeDocument/2006/relationships" id="259" r:id="Rf1c3b34dc6934468"/>
    <p:sldId xmlns:r="http://schemas.openxmlformats.org/officeDocument/2006/relationships" id="260" r:id="Rcb0cddcdc6254256"/>
    <p:sldId xmlns:r="http://schemas.openxmlformats.org/officeDocument/2006/relationships" id="261" r:id="Rd6d4b839e2d64daa"/>
    <p:sldId xmlns:r="http://schemas.openxmlformats.org/officeDocument/2006/relationships" id="262" r:id="R5f1268fc1e1b4641"/>
    <p:sldId xmlns:r="http://schemas.openxmlformats.org/officeDocument/2006/relationships" id="263" r:id="R562a62a967dd49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366af233cc4ccf" /><Relationship Type="http://schemas.openxmlformats.org/officeDocument/2006/relationships/slideMaster" Target="/ppt/slideMasters/slideMaster1.xml" Id="R17cc72b3ecdb495b" /><Relationship Type="http://schemas.openxmlformats.org/officeDocument/2006/relationships/notesMaster" Target="/ppt/notesMasters/notesMaster1.xml" Id="Reb9b27e5a7da42f4" /><Relationship Type="http://schemas.openxmlformats.org/officeDocument/2006/relationships/presProps" Target="/ppt/presProps.xml" Id="R44039face9c84be7" /><Relationship Type="http://schemas.openxmlformats.org/officeDocument/2006/relationships/tableStyles" Target="/ppt/tableStyles.xml" Id="Rbda11622f81848de" /><Relationship Type="http://schemas.openxmlformats.org/officeDocument/2006/relationships/slide" Target="/ppt/slides/slide1.xml" Id="Racaf34ab5f6f45d8" /><Relationship Type="http://schemas.openxmlformats.org/officeDocument/2006/relationships/slide" Target="/ppt/slides/slide2.xml" Id="R21c66bdc102d4722" /><Relationship Type="http://schemas.openxmlformats.org/officeDocument/2006/relationships/slide" Target="/ppt/slides/slide3.xml" Id="R3c89809cbf144856" /><Relationship Type="http://schemas.openxmlformats.org/officeDocument/2006/relationships/slide" Target="/ppt/slides/slide4.xml" Id="Rf1c3b34dc6934468" /><Relationship Type="http://schemas.openxmlformats.org/officeDocument/2006/relationships/slide" Target="/ppt/slides/slide5.xml" Id="Rcb0cddcdc6254256" /><Relationship Type="http://schemas.openxmlformats.org/officeDocument/2006/relationships/slide" Target="/ppt/slides/slide6.xml" Id="Rd6d4b839e2d64daa" /><Relationship Type="http://schemas.openxmlformats.org/officeDocument/2006/relationships/slide" Target="/ppt/slides/slide7.xml" Id="R5f1268fc1e1b4641" /><Relationship Type="http://schemas.openxmlformats.org/officeDocument/2006/relationships/slide" Target="/ppt/slides/slide8.xml" Id="R562a62a967dd49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febebe989441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55e05be270407d" /><Relationship Type="http://schemas.openxmlformats.org/officeDocument/2006/relationships/notesMaster" Target="/ppt/notesMasters/notesMaster1.xml" Id="R87fa96bb0d1843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199211d6a34006" /><Relationship Type="http://schemas.openxmlformats.org/officeDocument/2006/relationships/notesMaster" Target="/ppt/notesMasters/notesMaster1.xml" Id="Rf95fa47a112b4f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c2fc30455347e5" /><Relationship Type="http://schemas.openxmlformats.org/officeDocument/2006/relationships/notesMaster" Target="/ppt/notesMasters/notesMaster1.xml" Id="R9c0d709f50bd40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d76e1af2b749b5" /><Relationship Type="http://schemas.openxmlformats.org/officeDocument/2006/relationships/notesMaster" Target="/ppt/notesMasters/notesMaster1.xml" Id="R2b0305fb7be746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d74240ac1246fa" /><Relationship Type="http://schemas.openxmlformats.org/officeDocument/2006/relationships/notesMaster" Target="/ppt/notesMasters/notesMaster1.xml" Id="R7e865c25457b4c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7cc18192324503" /><Relationship Type="http://schemas.openxmlformats.org/officeDocument/2006/relationships/notesMaster" Target="/ppt/notesMasters/notesMaster1.xml" Id="R5a4f143958af4a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f8ce99ecd374680" /><Relationship Type="http://schemas.openxmlformats.org/officeDocument/2006/relationships/notesMaster" Target="/ppt/notesMasters/notesMaster1.xml" Id="Rce619eb75c5547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647058e6784b64" /><Relationship Type="http://schemas.openxmlformats.org/officeDocument/2006/relationships/notesMaster" Target="/ppt/notesMasters/notesMaster1.xml" Id="R9b897a717dd94a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Tremembé is a municipality in the Paraíba Valley, in the interior of São Paulo state. Its prison complex became nationally known because several inmates were connected to high-profile criminal cases. This presentation looks beyond the nickname and explains the institution's history, routine and changing role.</a:t>
            </a:r>
          </a:p>
          <a:p xmlns:a="http://schemas.openxmlformats.org/drawingml/2006/main">
            <a:r>
              <a:t/>
            </a:r>
          </a:p>
          <a:p xmlns:a="http://schemas.openxmlformats.org/drawingml/2006/main">
            <a:r>
              <a:t>Sources: CNN Brasil, Aug. 22, 2025: https://www.cnnbrasil.com.br/nacional/sudeste/sp/tremembe-entenda-de-onde-surgiu-fama-de-presidio-dos-famosos/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name Tremembé Prison can refer to more than one institution. The best-known unit is Penitentiary II Dr. José Augusto César Salgado, commonly called P2. Other units in the complex have different populations and security functions. São Paulo's prison administration records P2's inauguration on August 26, 1955.</a:t>
            </a:r>
          </a:p>
          <a:p xmlns:a="http://schemas.openxmlformats.org/drawingml/2006/main">
            <a:r>
              <a:t/>
            </a:r>
          </a:p>
          <a:p xmlns:a="http://schemas.openxmlformats.org/drawingml/2006/main">
            <a:r>
              <a:t>Sources: São Paulo State Prison Administration, prison units: https://www1.sap.sp.gov.br/sp/unidades-prisionais/unidades-prisionais-mobile-ceprvali.html | SAP, Inaugurated Units: https://www1.sap.sp.gov.br/sp/unidades-prisionais/impressao/pdf/inauguradas.pdf | CNN Brasil, Aug. 22, 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People involved in cases with major public attention could face threats in ordinary prison populations. Tremembé became associated with protective separation and therefore concentrated several well-known names. The media nickname did not mean a luxury prison, and most prisoners were never celebrities.</a:t>
            </a:r>
          </a:p>
          <a:p xmlns:a="http://schemas.openxmlformats.org/drawingml/2006/main">
            <a:r>
              <a:t/>
            </a:r>
          </a:p>
          <a:p xmlns:a="http://schemas.openxmlformats.org/drawingml/2006/main">
            <a:r>
              <a:t>Sources: CNN Brasil, Aug. 22, 2025: https://www.cnnbrasil.com.br/nacional/sudeste/sp/tremembe-entenda-de-onde-surgiu-fama-de-presidio-dos-famosos/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people were convicted in different cases that received extensive coverage in Brazil. Suzane von Richthofen was convicted for her role in the murder of her parents. Alexandre Nardoni was convicted in the death of his daughter Isabella. Elize Matsunaga and Cristian Cravinhos were also convicted in widely reported homicide cases. Keep the explanation neutral and avoid graphic details.</a:t>
            </a:r>
          </a:p>
          <a:p xmlns:a="http://schemas.openxmlformats.org/drawingml/2006/main">
            <a:r>
              <a:t/>
            </a:r>
          </a:p>
          <a:p xmlns:a="http://schemas.openxmlformats.org/drawingml/2006/main">
            <a:r>
              <a:t>Sources: CNN Brasil, Aug. 22, 2025 | CNN Brasil, Jan. 13, 2026: https://www.cnnbrasil.com.br/nacional/sudeste/sp/presidio-dos-famosos-comeca-a-ser-desfeito-e-presos-sao-transferidos/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and reported programs have included workshops, schooling, religious activities, music or theatre, and prison labor. A state government report described an organic garden at P2 where incarcerated workers grew vegetables and herbs. These activities can build skills and responsibility. Work and study may also contribute to sentence reduction under Brazilian law when legal requirements are met.</a:t>
            </a:r>
          </a:p>
          <a:p xmlns:a="http://schemas.openxmlformats.org/drawingml/2006/main">
            <a:r>
              <a:t/>
            </a:r>
          </a:p>
          <a:p xmlns:a="http://schemas.openxmlformats.org/drawingml/2006/main">
            <a:r>
              <a:t>Sources: São Paulo State Prison Administration, prison gardens: https://www1.sap.sp.gov.br/noticias/not1932.html | CNN Brasil, Aug. 22, 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Richthofen case became one of Brazil's most discussed criminal cases. Suzane spent roughly twenty years in the women's unit at Tremembé. In January 2023, the justice system moved her to the open regime. Her story helped build the complex's media image, but we should discuss it as a legal and social case, not as entertainment.</a:t>
            </a:r>
          </a:p>
          <a:p xmlns:a="http://schemas.openxmlformats.org/drawingml/2006/main">
            <a:r>
              <a:t/>
            </a:r>
          </a:p>
          <a:p xmlns:a="http://schemas.openxmlformats.org/drawingml/2006/main">
            <a:r>
              <a:t>Sources: CNN Brasil, Aug. 22, 2025: https://www.cnnbrasil.com.br/nacional/sudeste/sp/tremembe-entenda-de-onde-surgiu-fama-de-presidio-dos-famosos/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Reports published in January 2026 said São Paulo authorities were dispersing notable prisoners to other facilities. Tremembé continues to operate, but its role as a single destination for famous inmates is changing. This matters because many older articles describe a situation that is no longer fully current.</a:t>
            </a:r>
          </a:p>
          <a:p xmlns:a="http://schemas.openxmlformats.org/drawingml/2006/main">
            <a:r>
              <a:t/>
            </a:r>
          </a:p>
          <a:p xmlns:a="http://schemas.openxmlformats.org/drawingml/2006/main">
            <a:r>
              <a:t>Sources: CNN Brasil, Jan. 13, 2026: https://www.cnnbrasil.com.br/nacional/sudeste/sp/presidio-dos-famosos-comeca-a-ser-desfeito-e-presos-sao-transferidos/ | São Paulo State Prison Administration, prison units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by separating the media reputation from the institution's real functions. Tremembé matters because it shows how prison security, public attention and rehabilitation can intersect. Its role changed in 2026, but its history still influences public discussion about Brazil's prison system.</a:t>
            </a:r>
          </a:p>
          <a:p xmlns:a="http://schemas.openxmlformats.org/drawingml/2006/main">
            <a:r>
              <a:t/>
            </a:r>
          </a:p>
          <a:p xmlns:a="http://schemas.openxmlformats.org/drawingml/2006/main">
            <a:r>
              <a:t>Sources: SAP prison units: https://www1.sap.sp.gov.br/sp/unidades-prisionais/unidades-prisionais-mobile-ceprvali.html | SAP inauguration list: https://www1.sap.sp.gov.br/sp/unidades-prisionais/impressao/pdf/inauguradas.pdf | SAP garden report: https://www1.sap.sp.gov.br/noticias/not1932.html | CNN Brasil, Aug. 22, 2025 | CNN Brasil, Jan. 13,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d518712c6e43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5cd89e26af4505" /><Relationship Type="http://schemas.openxmlformats.org/officeDocument/2006/relationships/slideLayout" Target="/ppt/slideLayouts/slideLayout1.xml" Id="Rb0222fde5d8047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222fde5d8047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e1a6b96164a41bf" /><Relationship Type="http://schemas.openxmlformats.org/officeDocument/2006/relationships/image" Target="/ppt/media/image.jpeg" Id="Rc598a250eb5042fc" /><Relationship Type="http://schemas.openxmlformats.org/officeDocument/2006/relationships/notesSlide" Target="/ppt/notesSlides/notesSlide1.xml" Id="R5a070971b49e4c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de132794b44eab" /><Relationship Type="http://schemas.openxmlformats.org/officeDocument/2006/relationships/notesSlide" Target="/ppt/notesSlides/notesSlide2.xml" Id="R423f46ce184042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c6c4d5a81af4cbc" /><Relationship Type="http://schemas.openxmlformats.org/officeDocument/2006/relationships/notesSlide" Target="/ppt/notesSlides/notesSlide3.xml" Id="Re49b7a5ec71c406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40819a334a94b5f" /><Relationship Type="http://schemas.openxmlformats.org/officeDocument/2006/relationships/notesSlide" Target="/ppt/notesSlides/notesSlide4.xml" Id="R280f93884a5c48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7a20cfd9a3a43d3" /><Relationship Type="http://schemas.openxmlformats.org/officeDocument/2006/relationships/notesSlide" Target="/ppt/notesSlides/notesSlide5.xml" Id="R377d17490e3a4b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8cf9867f19c493b" /><Relationship Type="http://schemas.openxmlformats.org/officeDocument/2006/relationships/notesSlide" Target="/ppt/notesSlides/notesSlide6.xml" Id="Rae6b1295c2d74c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2deab3015164ef1" /><Relationship Type="http://schemas.openxmlformats.org/officeDocument/2006/relationships/image" Target="/ppt/media/image2.jpeg" Id="R5c10665518d745b8" /><Relationship Type="http://schemas.openxmlformats.org/officeDocument/2006/relationships/notesSlide" Target="/ppt/notesSlides/notesSlide7.xml" Id="R05038c8162b74f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a4eb3191f694ea6" /><Relationship Type="http://schemas.openxmlformats.org/officeDocument/2006/relationships/notesSlide" Target="/ppt/notesSlides/notesSlide8.xml" Id="Rc6e611abca2448f5" /></Relationships>
</file>

<file path=ppt/slides/slide1.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598a250eb5042fc"/>
          <a:srcRect xmlns:a="http://schemas.openxmlformats.org/drawingml/2006/main" l="24267" t="0" r="24267"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16BAD0B-2D3A-4876-9ED5-E6AE286BE821}"/>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E9DEC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23BD8AC-6552-45D7-A721-7927DDE38936}"/>
              </a:ext>
            </a:extLst>
          </p:cNvPr>
          <p:cNvSpPr>
            <a:spLocks xmlns:a="http://schemas.openxmlformats.org/drawingml/2006/main" noGrp="1"/>
          </p:cNvSpPr>
          <p:nvPr/>
        </p:nvSpPr>
        <p:spPr>
          <a:xfrm xmlns:a="http://schemas.openxmlformats.org/drawingml/2006/main">
            <a:off x="609600" y="4953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8F3D31"/>
                </a:solidFill>
                <a:latin typeface="DejaVu Sans Mono"/>
                <a:ea typeface="DejaVu Sans Mono"/>
                <a:cs typeface="DejaVu Sans Mono"/>
              </a:defRPr>
            </a:pPr>
            <a:r>
              <a:rPr sz="1200" b="1" i="0">
                <a:solidFill>
                  <a:srgbClr val="8F3D31"/>
                </a:solidFill>
                <a:latin typeface="DejaVu Sans Mono"/>
                <a:ea typeface="DejaVu Sans Mono"/>
                <a:cs typeface="DejaVu Sans Mono"/>
              </a:rPr>
              <a:t>BEHIND THE WALLS</a:t>
            </a:r>
          </a:p>
        </p:txBody>
      </p:sp>
      <p:sp>
        <p:nvSpPr>
          <p:cNvPr id="4" name="">
            <a:extLst xmlns:a="http://schemas.openxmlformats.org/drawingml/2006/main">
              <a:ext uri="{FF2B5EF4-FFF2-40B4-BE49-F238E27FC236}">
                <a16:creationId xmlns:a16="http://schemas.microsoft.com/office/drawing/2014/main" id="{B5CBB367-935D-415B-B934-902900DC1017}"/>
              </a:ext>
            </a:extLst>
          </p:cNvPr>
          <p:cNvSpPr>
            <a:spLocks xmlns:a="http://schemas.openxmlformats.org/drawingml/2006/main" noGrp="1"/>
          </p:cNvSpPr>
          <p:nvPr/>
        </p:nvSpPr>
        <p:spPr>
          <a:xfrm xmlns:a="http://schemas.openxmlformats.org/drawingml/2006/main">
            <a:off x="609600" y="914400"/>
            <a:ext cx="5334000" cy="0"/>
          </a:xfrm>
          <a:prstGeom xmlns:a="http://schemas.openxmlformats.org/drawingml/2006/main" prst="line">
            <a:avLst/>
          </a:prstGeom>
          <a:noFill xmlns:a="http://schemas.openxmlformats.org/drawingml/2006/main"/>
          <a:ln xmlns:a="http://schemas.openxmlformats.org/drawingml/2006/main" w="28575">
            <a:solidFill>
              <a:srgbClr val="4B2B20"/>
            </a:solidFill>
            <a:prstDash val="solid"/>
          </a:ln>
        </p:spPr>
      </p:sp>
      <p:sp>
        <p:nvSpPr>
          <p:cNvPr id="5" name="">
            <a:extLst xmlns:a="http://schemas.openxmlformats.org/drawingml/2006/main">
              <a:ext uri="{FF2B5EF4-FFF2-40B4-BE49-F238E27FC236}">
                <a16:creationId xmlns:a16="http://schemas.microsoft.com/office/drawing/2014/main" id="{2DEDD346-BB54-49C7-9DBA-300BD9A0FBDE}"/>
              </a:ext>
            </a:extLst>
          </p:cNvPr>
          <p:cNvSpPr>
            <a:spLocks xmlns:a="http://schemas.openxmlformats.org/drawingml/2006/main" noGrp="1"/>
          </p:cNvSpPr>
          <p:nvPr/>
        </p:nvSpPr>
        <p:spPr>
          <a:xfrm xmlns:a="http://schemas.openxmlformats.org/drawingml/2006/main">
            <a:off x="609600" y="1314450"/>
            <a:ext cx="5334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250" b="1" i="0">
                <a:solidFill>
                  <a:srgbClr val="301D17"/>
                </a:solidFill>
                <a:latin typeface="Liberation Sans"/>
                <a:ea typeface="Liberation Sans"/>
                <a:cs typeface="Liberation Sans"/>
              </a:defRPr>
            </a:pPr>
            <a:r>
              <a:rPr sz="5250" b="1" i="0">
                <a:solidFill>
                  <a:srgbClr val="301D17"/>
                </a:solidFill>
                <a:latin typeface="Liberation Sans"/>
                <a:ea typeface="Liberation Sans"/>
                <a:cs typeface="Liberation Sans"/>
              </a:rPr>
              <a:t>Tremembé</a:t>
            </a:r>
          </a:p>
          <a:p xmlns:a="http://schemas.openxmlformats.org/drawingml/2006/main">
            <a:pPr algn="l">
              <a:defRPr sz="5250" b="1" i="0">
                <a:solidFill>
                  <a:srgbClr val="301D17"/>
                </a:solidFill>
                <a:latin typeface="Liberation Sans"/>
                <a:ea typeface="Liberation Sans"/>
                <a:cs typeface="Liberation Sans"/>
              </a:defRPr>
            </a:pPr>
            <a:r>
              <a:rPr sz="5250" b="1" i="0">
                <a:solidFill>
                  <a:srgbClr val="301D17"/>
                </a:solidFill>
                <a:latin typeface="Liberation Sans"/>
                <a:ea typeface="Liberation Sans"/>
                <a:cs typeface="Liberation Sans"/>
              </a:rPr>
              <a:t>Prison</a:t>
            </a:r>
          </a:p>
        </p:txBody>
      </p:sp>
      <p:sp>
        <p:nvSpPr>
          <p:cNvPr id="6" name="">
            <a:extLst xmlns:a="http://schemas.openxmlformats.org/drawingml/2006/main">
              <a:ext uri="{FF2B5EF4-FFF2-40B4-BE49-F238E27FC236}">
                <a16:creationId xmlns:a16="http://schemas.microsoft.com/office/drawing/2014/main" id="{BD3E91B6-9C69-4470-BC5E-DDB10D8A85A8}"/>
              </a:ext>
            </a:extLst>
          </p:cNvPr>
          <p:cNvSpPr>
            <a:spLocks xmlns:a="http://schemas.openxmlformats.org/drawingml/2006/main" noGrp="1"/>
          </p:cNvSpPr>
          <p:nvPr/>
        </p:nvSpPr>
        <p:spPr>
          <a:xfrm xmlns:a="http://schemas.openxmlformats.org/drawingml/2006/main">
            <a:off x="647700" y="3238500"/>
            <a:ext cx="500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i="1">
                <a:solidFill>
                  <a:srgbClr val="4B2B20"/>
                </a:solidFill>
                <a:latin typeface="Liberation Sans"/>
                <a:ea typeface="Liberation Sans"/>
                <a:cs typeface="Liberation Sans"/>
              </a:defRPr>
            </a:pPr>
            <a:r>
              <a:rPr sz="2100" b="0" i="1">
                <a:solidFill>
                  <a:srgbClr val="4B2B20"/>
                </a:solidFill>
                <a:latin typeface="Liberation Sans"/>
                <a:ea typeface="Liberation Sans"/>
                <a:cs typeface="Liberation Sans"/>
              </a:rPr>
              <a:t>Behind Brazil's “Prison of Celebrities”</a:t>
            </a:r>
          </a:p>
        </p:txBody>
      </p:sp>
      <p:sp>
        <p:nvSpPr>
          <p:cNvPr id="7" name="">
            <a:extLst xmlns:a="http://schemas.openxmlformats.org/drawingml/2006/main">
              <a:ext uri="{FF2B5EF4-FFF2-40B4-BE49-F238E27FC236}">
                <a16:creationId xmlns:a16="http://schemas.microsoft.com/office/drawing/2014/main" id="{187CCD06-F45A-44FC-AE89-A91A7A22646B}"/>
              </a:ext>
            </a:extLst>
          </p:cNvPr>
          <p:cNvSpPr>
            <a:spLocks xmlns:a="http://schemas.openxmlformats.org/drawingml/2006/main" noGrp="1"/>
          </p:cNvSpPr>
          <p:nvPr/>
        </p:nvSpPr>
        <p:spPr>
          <a:xfrm xmlns:a="http://schemas.openxmlformats.org/drawingml/2006/main">
            <a:off x="647700" y="4810125"/>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8F3D31"/>
                </a:solidFill>
                <a:latin typeface="DejaVu Sans Mono"/>
                <a:ea typeface="DejaVu Sans Mono"/>
                <a:cs typeface="DejaVu Sans Mono"/>
              </a:defRPr>
            </a:pPr>
            <a:r>
              <a:rPr sz="1200" b="1" i="0">
                <a:solidFill>
                  <a:srgbClr val="8F3D31"/>
                </a:solidFill>
                <a:latin typeface="DejaVu Sans Mono"/>
                <a:ea typeface="DejaVu Sans Mono"/>
                <a:cs typeface="DejaVu Sans Mono"/>
              </a:rPr>
              <a:t>TREMEMBÉ, SÃO PAULO, BRAZIL</a:t>
            </a:r>
          </a:p>
        </p:txBody>
      </p:sp>
      <p:sp>
        <p:nvSpPr>
          <p:cNvPr id="8" name="">
            <a:extLst xmlns:a="http://schemas.openxmlformats.org/drawingml/2006/main">
              <a:ext uri="{FF2B5EF4-FFF2-40B4-BE49-F238E27FC236}">
                <a16:creationId xmlns:a16="http://schemas.microsoft.com/office/drawing/2014/main" id="{E926BBCA-94D0-49D5-AD45-49665FFCA97E}"/>
              </a:ext>
            </a:extLst>
          </p:cNvPr>
          <p:cNvSpPr>
            <a:spLocks xmlns:a="http://schemas.openxmlformats.org/drawingml/2006/main" noGrp="1"/>
          </p:cNvSpPr>
          <p:nvPr/>
        </p:nvSpPr>
        <p:spPr>
          <a:xfrm xmlns:a="http://schemas.openxmlformats.org/drawingml/2006/main">
            <a:off x="647700" y="5476875"/>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301D17"/>
                </a:solidFill>
                <a:latin typeface="Liberation Sans"/>
                <a:ea typeface="Liberation Sans"/>
                <a:cs typeface="Liberation Sans"/>
              </a:defRPr>
            </a:pPr>
            <a:r>
              <a:rPr sz="1650" b="0" i="0">
                <a:solidFill>
                  <a:srgbClr val="301D17"/>
                </a:solidFill>
                <a:latin typeface="Liberation Sans"/>
                <a:ea typeface="Liberation Sans"/>
                <a:cs typeface="Liberation Sans"/>
              </a:rPr>
              <a:t>Presented by: [student names]</a:t>
            </a:r>
          </a:p>
        </p:txBody>
      </p:sp>
      <p:sp>
        <p:nvSpPr>
          <p:cNvPr id="9" name="">
            <a:extLst xmlns:a="http://schemas.openxmlformats.org/drawingml/2006/main">
              <a:ext uri="{FF2B5EF4-FFF2-40B4-BE49-F238E27FC236}">
                <a16:creationId xmlns:a16="http://schemas.microsoft.com/office/drawing/2014/main" id="{B6C8D0FD-82E5-4A8F-8276-6F5C3711FFDC}"/>
              </a:ext>
            </a:extLst>
          </p:cNvPr>
          <p:cNvSpPr>
            <a:spLocks xmlns:a="http://schemas.openxmlformats.org/drawingml/2006/main" noGrp="1"/>
          </p:cNvSpPr>
          <p:nvPr/>
        </p:nvSpPr>
        <p:spPr>
          <a:xfrm xmlns:a="http://schemas.openxmlformats.org/drawingml/2006/main">
            <a:off x="5572125" y="61722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1" i="0">
                <a:solidFill>
                  <a:srgbClr val="766A60"/>
                </a:solidFill>
                <a:latin typeface="DejaVu Sans Mono"/>
                <a:ea typeface="DejaVu Sans Mono"/>
                <a:cs typeface="DejaVu Sans Mono"/>
              </a:defRPr>
            </a:pPr>
            <a:r>
              <a:rPr sz="1125" b="1" i="0">
                <a:solidFill>
                  <a:srgbClr val="766A60"/>
                </a:solidFill>
                <a:latin typeface="DejaVu Sans Mono"/>
                <a:ea typeface="DejaVu Sans Mono"/>
                <a:cs typeface="DejaVu Sans Mono"/>
              </a:rPr>
              <a:t>01</a:t>
            </a:r>
          </a:p>
        </p:txBody>
      </p:sp>
    </p:spTree>
    <p:extLst>
      <p:ext uri="{BB962C8B-B14F-4D97-AF65-F5344CB8AC3E}">
        <p14:creationId xmlns:p14="http://schemas.microsoft.com/office/powerpoint/2010/main" val="1205019527"/>
      </p:ext>
    </p:extLst>
  </p:cSld>
</p:sld>
</file>

<file path=ppt/slides/slide2.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A2BAEC7-E8AB-42D3-86F9-AB2EEEC5EA1E}"/>
              </a:ext>
            </a:extLst>
          </p:cNvPr>
          <p:cNvSpPr>
            <a:spLocks xmlns:a="http://schemas.openxmlformats.org/drawingml/2006/main" noGrp="1"/>
          </p:cNvSpPr>
          <p:nvPr/>
        </p:nvSpPr>
        <p:spPr>
          <a:xfrm xmlns:a="http://schemas.openxmlformats.org/drawingml/2006/main">
            <a:off x="552450" y="323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TREMEMBÉ PRISON</a:t>
            </a:r>
          </a:p>
        </p:txBody>
      </p:sp>
      <p:sp>
        <p:nvSpPr>
          <p:cNvPr id="2" name="">
            <a:extLst xmlns:a="http://schemas.openxmlformats.org/drawingml/2006/main">
              <a:ext uri="{FF2B5EF4-FFF2-40B4-BE49-F238E27FC236}">
                <a16:creationId xmlns:a16="http://schemas.microsoft.com/office/drawing/2014/main" id="{ADFED9B1-2096-4F6C-8CD6-E1D702B01914}"/>
              </a:ext>
            </a:extLst>
          </p:cNvPr>
          <p:cNvSpPr>
            <a:spLocks xmlns:a="http://schemas.openxmlformats.org/drawingml/2006/main" noGrp="1"/>
          </p:cNvSpPr>
          <p:nvPr/>
        </p:nvSpPr>
        <p:spPr>
          <a:xfrm xmlns:a="http://schemas.openxmlformats.org/drawingml/2006/main">
            <a:off x="10953750" y="25717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02</a:t>
            </a:r>
          </a:p>
        </p:txBody>
      </p:sp>
      <p:sp>
        <p:nvSpPr>
          <p:cNvPr id="3" name="">
            <a:extLst xmlns:a="http://schemas.openxmlformats.org/drawingml/2006/main">
              <a:ext uri="{FF2B5EF4-FFF2-40B4-BE49-F238E27FC236}">
                <a16:creationId xmlns:a16="http://schemas.microsoft.com/office/drawing/2014/main" id="{0740657A-DD9A-4D70-BF1E-FD900BED2646}"/>
              </a:ext>
            </a:extLst>
          </p:cNvPr>
          <p:cNvSpPr>
            <a:spLocks xmlns:a="http://schemas.openxmlformats.org/drawingml/2006/main" noGrp="1"/>
          </p:cNvSpPr>
          <p:nvPr/>
        </p:nvSpPr>
        <p:spPr>
          <a:xfrm xmlns:a="http://schemas.openxmlformats.org/drawingml/2006/main">
            <a:off x="552450" y="742950"/>
            <a:ext cx="11087100" cy="0"/>
          </a:xfrm>
          <a:prstGeom xmlns:a="http://schemas.openxmlformats.org/drawingml/2006/main" prst="line">
            <a:avLst/>
          </a:prstGeom>
          <a:noFill xmlns:a="http://schemas.openxmlformats.org/drawingml/2006/main"/>
          <a:ln xmlns:a="http://schemas.openxmlformats.org/drawingml/2006/main" w="19050">
            <a:solidFill>
              <a:srgbClr val="4B2B20"/>
            </a:solidFill>
            <a:prstDash val="solid"/>
          </a:ln>
        </p:spPr>
      </p:sp>
      <p:sp>
        <p:nvSpPr>
          <p:cNvPr id="4" name="">
            <a:extLst xmlns:a="http://schemas.openxmlformats.org/drawingml/2006/main">
              <a:ext uri="{FF2B5EF4-FFF2-40B4-BE49-F238E27FC236}">
                <a16:creationId xmlns:a16="http://schemas.microsoft.com/office/drawing/2014/main" id="{202151D0-116F-43FE-8CCF-2756FEA69FBF}"/>
              </a:ext>
            </a:extLst>
          </p:cNvPr>
          <p:cNvSpPr>
            <a:spLocks xmlns:a="http://schemas.openxmlformats.org/drawingml/2006/main" noGrp="1"/>
          </p:cNvSpPr>
          <p:nvPr/>
        </p:nvSpPr>
        <p:spPr>
          <a:xfrm xmlns:a="http://schemas.openxmlformats.org/drawingml/2006/main">
            <a:off x="552450" y="971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301D17"/>
                </a:solidFill>
                <a:latin typeface="Liberation Sans"/>
                <a:ea typeface="Liberation Sans"/>
                <a:cs typeface="Liberation Sans"/>
              </a:defRPr>
            </a:pPr>
            <a:r>
              <a:rPr sz="2850" b="1" i="0">
                <a:solidFill>
                  <a:srgbClr val="301D17"/>
                </a:solidFill>
                <a:latin typeface="Liberation Sans"/>
                <a:ea typeface="Liberation Sans"/>
                <a:cs typeface="Liberation Sans"/>
              </a:rPr>
              <a:t>Basic Facts</a:t>
            </a:r>
          </a:p>
        </p:txBody>
      </p:sp>
      <p:sp>
        <p:nvSpPr>
          <p:cNvPr id="5" name="">
            <a:extLst xmlns:a="http://schemas.openxmlformats.org/drawingml/2006/main">
              <a:ext uri="{FF2B5EF4-FFF2-40B4-BE49-F238E27FC236}">
                <a16:creationId xmlns:a16="http://schemas.microsoft.com/office/drawing/2014/main" id="{8F89ED01-9770-47A9-B5EF-083780B1D402}"/>
              </a:ext>
            </a:extLst>
          </p:cNvPr>
          <p:cNvSpPr>
            <a:spLocks xmlns:a="http://schemas.openxmlformats.org/drawingml/2006/main" noGrp="1"/>
          </p:cNvSpPr>
          <p:nvPr/>
        </p:nvSpPr>
        <p:spPr>
          <a:xfrm xmlns:a="http://schemas.openxmlformats.org/drawingml/2006/main">
            <a:off x="590550" y="174307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A COMPLEX, NOT A SINGLE BUILDING</a:t>
            </a:r>
          </a:p>
        </p:txBody>
      </p:sp>
      <p:sp>
        <p:nvSpPr>
          <p:cNvPr id="6" name="">
            <a:extLst xmlns:a="http://schemas.openxmlformats.org/drawingml/2006/main">
              <a:ext uri="{FF2B5EF4-FFF2-40B4-BE49-F238E27FC236}">
                <a16:creationId xmlns:a16="http://schemas.microsoft.com/office/drawing/2014/main" id="{E4CF76BB-BD47-492F-874B-F42DCA7F3EE3}"/>
              </a:ext>
            </a:extLst>
          </p:cNvPr>
          <p:cNvSpPr>
            <a:spLocks xmlns:a="http://schemas.openxmlformats.org/drawingml/2006/main" noGrp="1"/>
          </p:cNvSpPr>
          <p:nvPr/>
        </p:nvSpPr>
        <p:spPr>
          <a:xfrm xmlns:a="http://schemas.openxmlformats.org/drawingml/2006/main">
            <a:off x="647700" y="2143125"/>
            <a:ext cx="53340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14300">
              <a:spcAft>
                <a:spcPts val="1700"/>
              </a:spcAft>
              <a:buChar char="•"/>
              <a:defRPr sz="2025">
                <a:solidFill>
                  <a:srgbClr val="301D17"/>
                </a:solidFill>
                <a:latin typeface="Liberation Sans"/>
                <a:ea typeface="Liberation Sans"/>
                <a:cs typeface="Liberation Sans"/>
              </a:defRPr>
            </a:pPr>
            <a:r>
              <a:rPr sz="2025">
                <a:solidFill>
                  <a:srgbClr val="301D17"/>
                </a:solidFill>
                <a:latin typeface="Liberation Sans"/>
                <a:ea typeface="Liberation Sans"/>
                <a:cs typeface="Liberation Sans"/>
              </a:rPr>
              <a:t>Five prison units in the complex</a:t>
            </a:r>
          </a:p>
          <a:p xmlns:a="http://schemas.openxmlformats.org/drawingml/2006/main">
            <a:pPr marL="241300" indent="-114300">
              <a:spcAft>
                <a:spcPts val="1700"/>
              </a:spcAft>
              <a:buChar char="•"/>
              <a:defRPr sz="2025">
                <a:solidFill>
                  <a:srgbClr val="301D17"/>
                </a:solidFill>
                <a:latin typeface="Liberation Sans"/>
                <a:ea typeface="Liberation Sans"/>
                <a:cs typeface="Liberation Sans"/>
              </a:defRPr>
            </a:pPr>
            <a:r>
              <a:rPr sz="2025">
                <a:solidFill>
                  <a:srgbClr val="301D17"/>
                </a:solidFill>
                <a:latin typeface="Liberation Sans"/>
                <a:ea typeface="Liberation Sans"/>
                <a:cs typeface="Liberation Sans"/>
              </a:rPr>
              <a:t>Facilities for men and women</a:t>
            </a:r>
          </a:p>
          <a:p xmlns:a="http://schemas.openxmlformats.org/drawingml/2006/main">
            <a:pPr marL="241300" indent="-114300">
              <a:spcAft>
                <a:spcPts val="1700"/>
              </a:spcAft>
              <a:buChar char="•"/>
              <a:defRPr sz="2025">
                <a:solidFill>
                  <a:srgbClr val="301D17"/>
                </a:solidFill>
                <a:latin typeface="Liberation Sans"/>
                <a:ea typeface="Liberation Sans"/>
                <a:cs typeface="Liberation Sans"/>
              </a:defRPr>
            </a:pPr>
            <a:r>
              <a:rPr sz="2025">
                <a:solidFill>
                  <a:srgbClr val="301D17"/>
                </a:solidFill>
                <a:latin typeface="Liberation Sans"/>
                <a:ea typeface="Liberation Sans"/>
                <a:cs typeface="Liberation Sans"/>
              </a:rPr>
              <a:t>Closed and semi-open regimes</a:t>
            </a:r>
          </a:p>
          <a:p xmlns:a="http://schemas.openxmlformats.org/drawingml/2006/main">
            <a:pPr marL="241300" indent="-114300">
              <a:spcAft>
                <a:spcPts val="1700"/>
              </a:spcAft>
              <a:buChar char="•"/>
              <a:defRPr sz="2025">
                <a:solidFill>
                  <a:srgbClr val="301D17"/>
                </a:solidFill>
                <a:latin typeface="Liberation Sans"/>
                <a:ea typeface="Liberation Sans"/>
                <a:cs typeface="Liberation Sans"/>
              </a:defRPr>
            </a:pPr>
            <a:r>
              <a:rPr sz="2025">
                <a:solidFill>
                  <a:srgbClr val="301D17"/>
                </a:solidFill>
                <a:latin typeface="Liberation Sans"/>
                <a:ea typeface="Liberation Sans"/>
                <a:cs typeface="Liberation Sans"/>
              </a:rPr>
              <a:t>P2 opened on August 26, 1955</a:t>
            </a:r>
          </a:p>
        </p:txBody>
      </p:sp>
      <p:sp>
        <p:nvSpPr>
          <p:cNvPr id="7" name="">
            <a:extLst xmlns:a="http://schemas.openxmlformats.org/drawingml/2006/main">
              <a:ext uri="{FF2B5EF4-FFF2-40B4-BE49-F238E27FC236}">
                <a16:creationId xmlns:a16="http://schemas.microsoft.com/office/drawing/2014/main" id="{5A79AB14-D1D5-4F78-843C-C2B6E7E710A4}"/>
              </a:ext>
            </a:extLst>
          </p:cNvPr>
          <p:cNvSpPr>
            <a:spLocks xmlns:a="http://schemas.openxmlformats.org/drawingml/2006/main" noGrp="1"/>
          </p:cNvSpPr>
          <p:nvPr/>
        </p:nvSpPr>
        <p:spPr>
          <a:xfrm xmlns:a="http://schemas.openxmlformats.org/drawingml/2006/main">
            <a:off x="6810375" y="1809750"/>
            <a:ext cx="4714875" cy="3714750"/>
          </a:xfrm>
          <a:prstGeom xmlns:a="http://schemas.openxmlformats.org/drawingml/2006/main" prst="rect">
            <a:avLst/>
          </a:prstGeom>
          <a:solidFill xmlns:a="http://schemas.openxmlformats.org/drawingml/2006/main">
            <a:srgbClr val="F4EBDD"/>
          </a:solidFill>
          <a:ln xmlns:a="http://schemas.openxmlformats.org/drawingml/2006/main" w="19050">
            <a:solidFill>
              <a:srgbClr val="4B2B20"/>
            </a:solidFill>
            <a:prstDash val="solid"/>
          </a:ln>
        </p:spPr>
      </p:sp>
      <p:sp>
        <p:nvSpPr>
          <p:cNvPr id="8" name="">
            <a:extLst xmlns:a="http://schemas.openxmlformats.org/drawingml/2006/main">
              <a:ext uri="{FF2B5EF4-FFF2-40B4-BE49-F238E27FC236}">
                <a16:creationId xmlns:a16="http://schemas.microsoft.com/office/drawing/2014/main" id="{46900D08-2866-4866-856B-1DCE4C934CE5}"/>
              </a:ext>
            </a:extLst>
          </p:cNvPr>
          <p:cNvSpPr>
            <a:spLocks xmlns:a="http://schemas.openxmlformats.org/drawingml/2006/main" noGrp="1"/>
          </p:cNvSpPr>
          <p:nvPr/>
        </p:nvSpPr>
        <p:spPr>
          <a:xfrm xmlns:a="http://schemas.openxmlformats.org/drawingml/2006/main">
            <a:off x="7286625" y="2143125"/>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650" b="1" i="0">
                <a:solidFill>
                  <a:srgbClr val="8F3D31"/>
                </a:solidFill>
                <a:latin typeface="DejaVu Sans Mono"/>
                <a:ea typeface="DejaVu Sans Mono"/>
                <a:cs typeface="DejaVu Sans Mono"/>
              </a:defRPr>
            </a:pPr>
            <a:r>
              <a:rPr sz="4650" b="1" i="0">
                <a:solidFill>
                  <a:srgbClr val="8F3D31"/>
                </a:solidFill>
                <a:latin typeface="DejaVu Sans Mono"/>
                <a:ea typeface="DejaVu Sans Mono"/>
                <a:cs typeface="DejaVu Sans Mono"/>
              </a:rPr>
              <a:t>1955</a:t>
            </a:r>
          </a:p>
        </p:txBody>
      </p:sp>
      <p:sp>
        <p:nvSpPr>
          <p:cNvPr id="9" name="">
            <a:extLst xmlns:a="http://schemas.openxmlformats.org/drawingml/2006/main">
              <a:ext uri="{FF2B5EF4-FFF2-40B4-BE49-F238E27FC236}">
                <a16:creationId xmlns:a16="http://schemas.microsoft.com/office/drawing/2014/main" id="{9EB8E36F-938F-4D7F-9CFB-0F11033AFD9F}"/>
              </a:ext>
            </a:extLst>
          </p:cNvPr>
          <p:cNvSpPr>
            <a:spLocks xmlns:a="http://schemas.openxmlformats.org/drawingml/2006/main" noGrp="1"/>
          </p:cNvSpPr>
          <p:nvPr/>
        </p:nvSpPr>
        <p:spPr>
          <a:xfrm xmlns:a="http://schemas.openxmlformats.org/drawingml/2006/main">
            <a:off x="7286625" y="3105150"/>
            <a:ext cx="3714750" cy="0"/>
          </a:xfrm>
          <a:prstGeom xmlns:a="http://schemas.openxmlformats.org/drawingml/2006/main" prst="line">
            <a:avLst/>
          </a:prstGeom>
          <a:noFill xmlns:a="http://schemas.openxmlformats.org/drawingml/2006/main"/>
          <a:ln xmlns:a="http://schemas.openxmlformats.org/drawingml/2006/main" w="28575">
            <a:solidFill>
              <a:srgbClr val="B78B4D"/>
            </a:solidFill>
            <a:prstDash val="solid"/>
          </a:ln>
        </p:spPr>
      </p:sp>
      <p:sp>
        <p:nvSpPr>
          <p:cNvPr id="10" name="">
            <a:extLst xmlns:a="http://schemas.openxmlformats.org/drawingml/2006/main">
              <a:ext uri="{FF2B5EF4-FFF2-40B4-BE49-F238E27FC236}">
                <a16:creationId xmlns:a16="http://schemas.microsoft.com/office/drawing/2014/main" id="{A781DCCE-EB5A-4B4F-B24C-B007EA912315}"/>
              </a:ext>
            </a:extLst>
          </p:cNvPr>
          <p:cNvSpPr>
            <a:spLocks xmlns:a="http://schemas.openxmlformats.org/drawingml/2006/main" noGrp="1"/>
          </p:cNvSpPr>
          <p:nvPr/>
        </p:nvSpPr>
        <p:spPr>
          <a:xfrm xmlns:a="http://schemas.openxmlformats.org/drawingml/2006/main">
            <a:off x="7334250" y="3409950"/>
            <a:ext cx="361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25" b="1" i="0">
                <a:solidFill>
                  <a:srgbClr val="301D17"/>
                </a:solidFill>
                <a:latin typeface="Liberation Sans"/>
                <a:ea typeface="Liberation Sans"/>
                <a:cs typeface="Liberation Sans"/>
              </a:defRPr>
            </a:pPr>
            <a:r>
              <a:rPr sz="2025" b="1" i="0">
                <a:solidFill>
                  <a:srgbClr val="301D17"/>
                </a:solidFill>
                <a:latin typeface="Liberation Sans"/>
                <a:ea typeface="Liberation Sans"/>
                <a:cs typeface="Liberation Sans"/>
              </a:rPr>
              <a:t>Penitentiary II</a:t>
            </a:r>
          </a:p>
          <a:p xmlns:a="http://schemas.openxmlformats.org/drawingml/2006/main">
            <a:pPr algn="ctr">
              <a:defRPr sz="2025" b="1" i="0">
                <a:solidFill>
                  <a:srgbClr val="301D17"/>
                </a:solidFill>
                <a:latin typeface="Liberation Sans"/>
                <a:ea typeface="Liberation Sans"/>
                <a:cs typeface="Liberation Sans"/>
              </a:defRPr>
            </a:pPr>
            <a:r>
              <a:rPr sz="2025" b="1" i="0">
                <a:solidFill>
                  <a:srgbClr val="301D17"/>
                </a:solidFill>
                <a:latin typeface="Liberation Sans"/>
                <a:ea typeface="Liberation Sans"/>
                <a:cs typeface="Liberation Sans"/>
              </a:rPr>
              <a:t>Dr. José Augusto César Salgado</a:t>
            </a:r>
          </a:p>
        </p:txBody>
      </p:sp>
      <p:sp>
        <p:nvSpPr>
          <p:cNvPr id="11" name="">
            <a:extLst xmlns:a="http://schemas.openxmlformats.org/drawingml/2006/main">
              <a:ext uri="{FF2B5EF4-FFF2-40B4-BE49-F238E27FC236}">
                <a16:creationId xmlns:a16="http://schemas.microsoft.com/office/drawing/2014/main" id="{712E0F3E-D0B5-4476-84C3-3B8E0C4A85B5}"/>
              </a:ext>
            </a:extLst>
          </p:cNvPr>
          <p:cNvSpPr>
            <a:spLocks xmlns:a="http://schemas.openxmlformats.org/drawingml/2006/main" noGrp="1"/>
          </p:cNvSpPr>
          <p:nvPr/>
        </p:nvSpPr>
        <p:spPr>
          <a:xfrm xmlns:a="http://schemas.openxmlformats.org/drawingml/2006/main">
            <a:off x="7477125" y="48101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766A60"/>
                </a:solidFill>
                <a:latin typeface="DejaVu Sans Mono"/>
                <a:ea typeface="DejaVu Sans Mono"/>
                <a:cs typeface="DejaVu Sans Mono"/>
              </a:defRPr>
            </a:pPr>
            <a:r>
              <a:rPr sz="1125" b="0" i="0">
                <a:solidFill>
                  <a:srgbClr val="766A60"/>
                </a:solidFill>
                <a:latin typeface="DejaVu Sans Mono"/>
                <a:ea typeface="DejaVu Sans Mono"/>
                <a:cs typeface="DejaVu Sans Mono"/>
              </a:rPr>
              <a:t>The unit commonly called P2</a:t>
            </a:r>
          </a:p>
        </p:txBody>
      </p:sp>
    </p:spTree>
    <p:extLst>
      <p:ext uri="{BB962C8B-B14F-4D97-AF65-F5344CB8AC3E}">
        <p14:creationId xmlns:p14="http://schemas.microsoft.com/office/powerpoint/2010/main" val="1301424664"/>
      </p:ext>
    </p:extLst>
  </p:cSld>
</p:sld>
</file>

<file path=ppt/slides/slide3.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1FA60CE-D8FB-4EF7-8458-8D7B214A716A}"/>
              </a:ext>
            </a:extLst>
          </p:cNvPr>
          <p:cNvSpPr>
            <a:spLocks xmlns:a="http://schemas.openxmlformats.org/drawingml/2006/main" noGrp="1"/>
          </p:cNvSpPr>
          <p:nvPr/>
        </p:nvSpPr>
        <p:spPr>
          <a:xfrm xmlns:a="http://schemas.openxmlformats.org/drawingml/2006/main">
            <a:off x="552450" y="323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TREMEMBÉ PRISON</a:t>
            </a:r>
          </a:p>
        </p:txBody>
      </p:sp>
      <p:sp>
        <p:nvSpPr>
          <p:cNvPr id="2" name="">
            <a:extLst xmlns:a="http://schemas.openxmlformats.org/drawingml/2006/main">
              <a:ext uri="{FF2B5EF4-FFF2-40B4-BE49-F238E27FC236}">
                <a16:creationId xmlns:a16="http://schemas.microsoft.com/office/drawing/2014/main" id="{673FF613-4724-46F0-A5CC-AF9513C031CD}"/>
              </a:ext>
            </a:extLst>
          </p:cNvPr>
          <p:cNvSpPr>
            <a:spLocks xmlns:a="http://schemas.openxmlformats.org/drawingml/2006/main" noGrp="1"/>
          </p:cNvSpPr>
          <p:nvPr/>
        </p:nvSpPr>
        <p:spPr>
          <a:xfrm xmlns:a="http://schemas.openxmlformats.org/drawingml/2006/main">
            <a:off x="10953750" y="25717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03</a:t>
            </a:r>
          </a:p>
        </p:txBody>
      </p:sp>
      <p:sp>
        <p:nvSpPr>
          <p:cNvPr id="3" name="">
            <a:extLst xmlns:a="http://schemas.openxmlformats.org/drawingml/2006/main">
              <a:ext uri="{FF2B5EF4-FFF2-40B4-BE49-F238E27FC236}">
                <a16:creationId xmlns:a16="http://schemas.microsoft.com/office/drawing/2014/main" id="{EF41F834-CC90-4016-9ACD-97C5B9EFA834}"/>
              </a:ext>
            </a:extLst>
          </p:cNvPr>
          <p:cNvSpPr>
            <a:spLocks xmlns:a="http://schemas.openxmlformats.org/drawingml/2006/main" noGrp="1"/>
          </p:cNvSpPr>
          <p:nvPr/>
        </p:nvSpPr>
        <p:spPr>
          <a:xfrm xmlns:a="http://schemas.openxmlformats.org/drawingml/2006/main">
            <a:off x="552450" y="742950"/>
            <a:ext cx="11087100" cy="0"/>
          </a:xfrm>
          <a:prstGeom xmlns:a="http://schemas.openxmlformats.org/drawingml/2006/main" prst="line">
            <a:avLst/>
          </a:prstGeom>
          <a:noFill xmlns:a="http://schemas.openxmlformats.org/drawingml/2006/main"/>
          <a:ln xmlns:a="http://schemas.openxmlformats.org/drawingml/2006/main" w="19050">
            <a:solidFill>
              <a:srgbClr val="4B2B20"/>
            </a:solidFill>
            <a:prstDash val="solid"/>
          </a:ln>
        </p:spPr>
      </p:sp>
      <p:sp>
        <p:nvSpPr>
          <p:cNvPr id="4" name="">
            <a:extLst xmlns:a="http://schemas.openxmlformats.org/drawingml/2006/main">
              <a:ext uri="{FF2B5EF4-FFF2-40B4-BE49-F238E27FC236}">
                <a16:creationId xmlns:a16="http://schemas.microsoft.com/office/drawing/2014/main" id="{B6CEDC5A-F34F-4731-8984-D15748486557}"/>
              </a:ext>
            </a:extLst>
          </p:cNvPr>
          <p:cNvSpPr>
            <a:spLocks xmlns:a="http://schemas.openxmlformats.org/drawingml/2006/main" noGrp="1"/>
          </p:cNvSpPr>
          <p:nvPr/>
        </p:nvSpPr>
        <p:spPr>
          <a:xfrm xmlns:a="http://schemas.openxmlformats.org/drawingml/2006/main">
            <a:off x="552450" y="971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301D17"/>
                </a:solidFill>
                <a:latin typeface="Liberation Sans"/>
                <a:ea typeface="Liberation Sans"/>
                <a:cs typeface="Liberation Sans"/>
              </a:defRPr>
            </a:pPr>
            <a:r>
              <a:rPr sz="2850" b="1" i="0">
                <a:solidFill>
                  <a:srgbClr val="301D17"/>
                </a:solidFill>
                <a:latin typeface="Liberation Sans"/>
                <a:ea typeface="Liberation Sans"/>
                <a:cs typeface="Liberation Sans"/>
              </a:rPr>
              <a:t>Why Did It Become Famous?</a:t>
            </a:r>
          </a:p>
        </p:txBody>
      </p:sp>
      <p:sp>
        <p:nvSpPr>
          <p:cNvPr id="5" name="">
            <a:extLst xmlns:a="http://schemas.openxmlformats.org/drawingml/2006/main">
              <a:ext uri="{FF2B5EF4-FFF2-40B4-BE49-F238E27FC236}">
                <a16:creationId xmlns:a16="http://schemas.microsoft.com/office/drawing/2014/main" id="{870705BF-DC8B-4133-95FE-CDC4018A5BD5}"/>
              </a:ext>
            </a:extLst>
          </p:cNvPr>
          <p:cNvSpPr>
            <a:spLocks xmlns:a="http://schemas.openxmlformats.org/drawingml/2006/main" noGrp="1"/>
          </p:cNvSpPr>
          <p:nvPr/>
        </p:nvSpPr>
        <p:spPr>
          <a:xfrm xmlns:a="http://schemas.openxmlformats.org/drawingml/2006/main">
            <a:off x="590550" y="18097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i="0">
                <a:solidFill>
                  <a:srgbClr val="8F3D31"/>
                </a:solidFill>
                <a:latin typeface="DejaVu Sans Mono"/>
                <a:ea typeface="DejaVu Sans Mono"/>
                <a:cs typeface="DejaVu Sans Mono"/>
              </a:defRPr>
            </a:pPr>
            <a:r>
              <a:rPr sz="3600" b="1" i="0">
                <a:solidFill>
                  <a:srgbClr val="8F3D31"/>
                </a:solidFill>
                <a:latin typeface="DejaVu Sans Mono"/>
                <a:ea typeface="DejaVu Sans Mono"/>
                <a:cs typeface="DejaVu Sans Mono"/>
              </a:rPr>
              <a:t>“PRISON OF CELEBRITIES”</a:t>
            </a:r>
          </a:p>
        </p:txBody>
      </p:sp>
      <p:sp>
        <p:nvSpPr>
          <p:cNvPr id="6" name="">
            <a:extLst xmlns:a="http://schemas.openxmlformats.org/drawingml/2006/main">
              <a:ext uri="{FF2B5EF4-FFF2-40B4-BE49-F238E27FC236}">
                <a16:creationId xmlns:a16="http://schemas.microsoft.com/office/drawing/2014/main" id="{070CE1B7-C44E-482C-99FE-1DBB7ED86C3C}"/>
              </a:ext>
            </a:extLst>
          </p:cNvPr>
          <p:cNvSpPr>
            <a:spLocks xmlns:a="http://schemas.openxmlformats.org/drawingml/2006/main" noGrp="1"/>
          </p:cNvSpPr>
          <p:nvPr/>
        </p:nvSpPr>
        <p:spPr>
          <a:xfrm xmlns:a="http://schemas.openxmlformats.org/drawingml/2006/main">
            <a:off x="590550" y="2667000"/>
            <a:ext cx="10906125" cy="0"/>
          </a:xfrm>
          <a:prstGeom xmlns:a="http://schemas.openxmlformats.org/drawingml/2006/main" prst="line">
            <a:avLst/>
          </a:prstGeom>
          <a:noFill xmlns:a="http://schemas.openxmlformats.org/drawingml/2006/main"/>
          <a:ln xmlns:a="http://schemas.openxmlformats.org/drawingml/2006/main" w="38100">
            <a:solidFill>
              <a:srgbClr val="B78B4D"/>
            </a:solidFill>
            <a:prstDash val="solid"/>
          </a:ln>
        </p:spPr>
      </p:sp>
      <p:sp>
        <p:nvSpPr>
          <p:cNvPr id="7" name="">
            <a:extLst xmlns:a="http://schemas.openxmlformats.org/drawingml/2006/main">
              <a:ext uri="{FF2B5EF4-FFF2-40B4-BE49-F238E27FC236}">
                <a16:creationId xmlns:a16="http://schemas.microsoft.com/office/drawing/2014/main" id="{420F4002-1665-4F6A-B163-080D27DAC4E1}"/>
              </a:ext>
            </a:extLst>
          </p:cNvPr>
          <p:cNvSpPr>
            <a:spLocks xmlns:a="http://schemas.openxmlformats.org/drawingml/2006/main" noGrp="1"/>
          </p:cNvSpPr>
          <p:nvPr/>
        </p:nvSpPr>
        <p:spPr>
          <a:xfrm xmlns:a="http://schemas.openxmlformats.org/drawingml/2006/main">
            <a:off x="647700" y="3048000"/>
            <a:ext cx="53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8F3D31"/>
                </a:solidFill>
                <a:latin typeface="DejaVu Sans Mono"/>
                <a:ea typeface="DejaVu Sans Mono"/>
                <a:cs typeface="DejaVu Sans Mono"/>
              </a:defRPr>
            </a:pPr>
            <a:r>
              <a:rPr sz="1500" b="1" i="0">
                <a:solidFill>
                  <a:srgbClr val="8F3D31"/>
                </a:solidFill>
                <a:latin typeface="DejaVu Sans Mono"/>
                <a:ea typeface="DejaVu Sans Mono"/>
                <a:cs typeface="DejaVu Sans Mono"/>
              </a:rPr>
              <a:t>01</a:t>
            </a:r>
          </a:p>
        </p:txBody>
      </p:sp>
      <p:sp>
        <p:nvSpPr>
          <p:cNvPr id="8" name="">
            <a:extLst xmlns:a="http://schemas.openxmlformats.org/drawingml/2006/main">
              <a:ext uri="{FF2B5EF4-FFF2-40B4-BE49-F238E27FC236}">
                <a16:creationId xmlns:a16="http://schemas.microsoft.com/office/drawing/2014/main" id="{0FF13CBF-D3D0-4471-A945-6E70753E9F05}"/>
              </a:ext>
            </a:extLst>
          </p:cNvPr>
          <p:cNvSpPr>
            <a:spLocks xmlns:a="http://schemas.openxmlformats.org/drawingml/2006/main" noGrp="1"/>
          </p:cNvSpPr>
          <p:nvPr/>
        </p:nvSpPr>
        <p:spPr>
          <a:xfrm xmlns:a="http://schemas.openxmlformats.org/drawingml/2006/main">
            <a:off x="1428750" y="301942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301D17"/>
                </a:solidFill>
                <a:latin typeface="Liberation Sans"/>
                <a:ea typeface="Liberation Sans"/>
                <a:cs typeface="Liberation Sans"/>
              </a:defRPr>
            </a:pPr>
            <a:r>
              <a:rPr sz="2025" b="1" i="0">
                <a:solidFill>
                  <a:srgbClr val="301D17"/>
                </a:solidFill>
                <a:latin typeface="Liberation Sans"/>
                <a:ea typeface="Liberation Sans"/>
                <a:cs typeface="Liberation Sans"/>
              </a:rPr>
              <a:t>High-profile cases</a:t>
            </a:r>
          </a:p>
        </p:txBody>
      </p:sp>
      <p:sp>
        <p:nvSpPr>
          <p:cNvPr id="9" name="">
            <a:extLst xmlns:a="http://schemas.openxmlformats.org/drawingml/2006/main">
              <a:ext uri="{FF2B5EF4-FFF2-40B4-BE49-F238E27FC236}">
                <a16:creationId xmlns:a16="http://schemas.microsoft.com/office/drawing/2014/main" id="{28C75EC2-F1F3-4F36-9BED-5A27C5AE3B7D}"/>
              </a:ext>
            </a:extLst>
          </p:cNvPr>
          <p:cNvSpPr>
            <a:spLocks xmlns:a="http://schemas.openxmlformats.org/drawingml/2006/main" noGrp="1"/>
          </p:cNvSpPr>
          <p:nvPr/>
        </p:nvSpPr>
        <p:spPr>
          <a:xfrm xmlns:a="http://schemas.openxmlformats.org/drawingml/2006/main">
            <a:off x="4572000" y="3048000"/>
            <a:ext cx="657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4B2B20"/>
                </a:solidFill>
                <a:latin typeface="Liberation Sans"/>
                <a:ea typeface="Liberation Sans"/>
                <a:cs typeface="Liberation Sans"/>
              </a:defRPr>
            </a:pPr>
            <a:r>
              <a:rPr sz="1650" b="0" i="0">
                <a:solidFill>
                  <a:srgbClr val="4B2B20"/>
                </a:solidFill>
                <a:latin typeface="Liberation Sans"/>
                <a:ea typeface="Liberation Sans"/>
                <a:cs typeface="Liberation Sans"/>
              </a:rPr>
              <a:t>Several inmates appeared in major national news stories.</a:t>
            </a:r>
          </a:p>
        </p:txBody>
      </p:sp>
      <p:sp>
        <p:nvSpPr>
          <p:cNvPr id="10" name="">
            <a:extLst xmlns:a="http://schemas.openxmlformats.org/drawingml/2006/main">
              <a:ext uri="{FF2B5EF4-FFF2-40B4-BE49-F238E27FC236}">
                <a16:creationId xmlns:a16="http://schemas.microsoft.com/office/drawing/2014/main" id="{972F6297-121F-4984-8C13-B9194EFE69B8}"/>
              </a:ext>
            </a:extLst>
          </p:cNvPr>
          <p:cNvSpPr>
            <a:spLocks xmlns:a="http://schemas.openxmlformats.org/drawingml/2006/main" noGrp="1"/>
          </p:cNvSpPr>
          <p:nvPr/>
        </p:nvSpPr>
        <p:spPr>
          <a:xfrm xmlns:a="http://schemas.openxmlformats.org/drawingml/2006/main">
            <a:off x="647700" y="4019550"/>
            <a:ext cx="53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8F3D31"/>
                </a:solidFill>
                <a:latin typeface="DejaVu Sans Mono"/>
                <a:ea typeface="DejaVu Sans Mono"/>
                <a:cs typeface="DejaVu Sans Mono"/>
              </a:defRPr>
            </a:pPr>
            <a:r>
              <a:rPr sz="1500" b="1" i="0">
                <a:solidFill>
                  <a:srgbClr val="8F3D31"/>
                </a:solidFill>
                <a:latin typeface="DejaVu Sans Mono"/>
                <a:ea typeface="DejaVu Sans Mono"/>
                <a:cs typeface="DejaVu Sans Mono"/>
              </a:rPr>
              <a:t>02</a:t>
            </a:r>
          </a:p>
        </p:txBody>
      </p:sp>
      <p:sp>
        <p:nvSpPr>
          <p:cNvPr id="11" name="">
            <a:extLst xmlns:a="http://schemas.openxmlformats.org/drawingml/2006/main">
              <a:ext uri="{FF2B5EF4-FFF2-40B4-BE49-F238E27FC236}">
                <a16:creationId xmlns:a16="http://schemas.microsoft.com/office/drawing/2014/main" id="{E635B1D6-06E5-4084-9247-1ACBC1D81AC2}"/>
              </a:ext>
            </a:extLst>
          </p:cNvPr>
          <p:cNvSpPr>
            <a:spLocks xmlns:a="http://schemas.openxmlformats.org/drawingml/2006/main" noGrp="1"/>
          </p:cNvSpPr>
          <p:nvPr/>
        </p:nvSpPr>
        <p:spPr>
          <a:xfrm xmlns:a="http://schemas.openxmlformats.org/drawingml/2006/main">
            <a:off x="1428750" y="399097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301D17"/>
                </a:solidFill>
                <a:latin typeface="Liberation Sans"/>
                <a:ea typeface="Liberation Sans"/>
                <a:cs typeface="Liberation Sans"/>
              </a:defRPr>
            </a:pPr>
            <a:r>
              <a:rPr sz="2025" b="1" i="0">
                <a:solidFill>
                  <a:srgbClr val="301D17"/>
                </a:solidFill>
                <a:latin typeface="Liberation Sans"/>
                <a:ea typeface="Liberation Sans"/>
                <a:cs typeface="Liberation Sans"/>
              </a:rPr>
              <a:t>Protection</a:t>
            </a:r>
          </a:p>
        </p:txBody>
      </p:sp>
      <p:sp>
        <p:nvSpPr>
          <p:cNvPr id="12" name="">
            <a:extLst xmlns:a="http://schemas.openxmlformats.org/drawingml/2006/main">
              <a:ext uri="{FF2B5EF4-FFF2-40B4-BE49-F238E27FC236}">
                <a16:creationId xmlns:a16="http://schemas.microsoft.com/office/drawing/2014/main" id="{69A67273-42C7-4A08-99E3-A56E363161D0}"/>
              </a:ext>
            </a:extLst>
          </p:cNvPr>
          <p:cNvSpPr>
            <a:spLocks xmlns:a="http://schemas.openxmlformats.org/drawingml/2006/main" noGrp="1"/>
          </p:cNvSpPr>
          <p:nvPr/>
        </p:nvSpPr>
        <p:spPr>
          <a:xfrm xmlns:a="http://schemas.openxmlformats.org/drawingml/2006/main">
            <a:off x="4572000" y="4019550"/>
            <a:ext cx="657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4B2B20"/>
                </a:solidFill>
                <a:latin typeface="Liberation Sans"/>
                <a:ea typeface="Liberation Sans"/>
                <a:cs typeface="Liberation Sans"/>
              </a:defRPr>
            </a:pPr>
            <a:r>
              <a:rPr sz="1650" b="0" i="0">
                <a:solidFill>
                  <a:srgbClr val="4B2B20"/>
                </a:solidFill>
                <a:latin typeface="Liberation Sans"/>
                <a:ea typeface="Liberation Sans"/>
                <a:cs typeface="Liberation Sans"/>
              </a:rPr>
              <a:t>Authorities separated people who could face threats in ordinary prison populations.</a:t>
            </a:r>
          </a:p>
        </p:txBody>
      </p:sp>
      <p:sp>
        <p:nvSpPr>
          <p:cNvPr id="13" name="">
            <a:extLst xmlns:a="http://schemas.openxmlformats.org/drawingml/2006/main">
              <a:ext uri="{FF2B5EF4-FFF2-40B4-BE49-F238E27FC236}">
                <a16:creationId xmlns:a16="http://schemas.microsoft.com/office/drawing/2014/main" id="{2D100377-3948-4C03-A839-39F818292453}"/>
              </a:ext>
            </a:extLst>
          </p:cNvPr>
          <p:cNvSpPr>
            <a:spLocks xmlns:a="http://schemas.openxmlformats.org/drawingml/2006/main" noGrp="1"/>
          </p:cNvSpPr>
          <p:nvPr/>
        </p:nvSpPr>
        <p:spPr>
          <a:xfrm xmlns:a="http://schemas.openxmlformats.org/drawingml/2006/main">
            <a:off x="647700" y="4991100"/>
            <a:ext cx="53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8F3D31"/>
                </a:solidFill>
                <a:latin typeface="DejaVu Sans Mono"/>
                <a:ea typeface="DejaVu Sans Mono"/>
                <a:cs typeface="DejaVu Sans Mono"/>
              </a:defRPr>
            </a:pPr>
            <a:r>
              <a:rPr sz="1500" b="1" i="0">
                <a:solidFill>
                  <a:srgbClr val="8F3D31"/>
                </a:solidFill>
                <a:latin typeface="DejaVu Sans Mono"/>
                <a:ea typeface="DejaVu Sans Mono"/>
                <a:cs typeface="DejaVu Sans Mono"/>
              </a:rPr>
              <a:t>03</a:t>
            </a:r>
          </a:p>
        </p:txBody>
      </p:sp>
      <p:sp>
        <p:nvSpPr>
          <p:cNvPr id="14" name="">
            <a:extLst xmlns:a="http://schemas.openxmlformats.org/drawingml/2006/main">
              <a:ext uri="{FF2B5EF4-FFF2-40B4-BE49-F238E27FC236}">
                <a16:creationId xmlns:a16="http://schemas.microsoft.com/office/drawing/2014/main" id="{5321B24F-AFEF-46FC-83B6-87F50B96F544}"/>
              </a:ext>
            </a:extLst>
          </p:cNvPr>
          <p:cNvSpPr>
            <a:spLocks xmlns:a="http://schemas.openxmlformats.org/drawingml/2006/main" noGrp="1"/>
          </p:cNvSpPr>
          <p:nvPr/>
        </p:nvSpPr>
        <p:spPr>
          <a:xfrm xmlns:a="http://schemas.openxmlformats.org/drawingml/2006/main">
            <a:off x="1428750" y="496252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301D17"/>
                </a:solidFill>
                <a:latin typeface="Liberation Sans"/>
                <a:ea typeface="Liberation Sans"/>
                <a:cs typeface="Liberation Sans"/>
              </a:defRPr>
            </a:pPr>
            <a:r>
              <a:rPr sz="2025" b="1" i="0">
                <a:solidFill>
                  <a:srgbClr val="301D17"/>
                </a:solidFill>
                <a:latin typeface="Liberation Sans"/>
                <a:ea typeface="Liberation Sans"/>
                <a:cs typeface="Liberation Sans"/>
              </a:rPr>
              <a:t>Media attention</a:t>
            </a:r>
          </a:p>
        </p:txBody>
      </p:sp>
      <p:sp>
        <p:nvSpPr>
          <p:cNvPr id="15" name="">
            <a:extLst xmlns:a="http://schemas.openxmlformats.org/drawingml/2006/main">
              <a:ext uri="{FF2B5EF4-FFF2-40B4-BE49-F238E27FC236}">
                <a16:creationId xmlns:a16="http://schemas.microsoft.com/office/drawing/2014/main" id="{B27659C4-5763-43B9-9E8B-D3DF466F20C2}"/>
              </a:ext>
            </a:extLst>
          </p:cNvPr>
          <p:cNvSpPr>
            <a:spLocks xmlns:a="http://schemas.openxmlformats.org/drawingml/2006/main" noGrp="1"/>
          </p:cNvSpPr>
          <p:nvPr/>
        </p:nvSpPr>
        <p:spPr>
          <a:xfrm xmlns:a="http://schemas.openxmlformats.org/drawingml/2006/main">
            <a:off x="4572000" y="4991100"/>
            <a:ext cx="657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4B2B20"/>
                </a:solidFill>
                <a:latin typeface="Liberation Sans"/>
                <a:ea typeface="Liberation Sans"/>
                <a:cs typeface="Liberation Sans"/>
              </a:defRPr>
            </a:pPr>
            <a:r>
              <a:rPr sz="1650" b="0" i="0">
                <a:solidFill>
                  <a:srgbClr val="4B2B20"/>
                </a:solidFill>
                <a:latin typeface="Liberation Sans"/>
                <a:ea typeface="Liberation Sans"/>
                <a:cs typeface="Liberation Sans"/>
              </a:rPr>
              <a:t>The concentration of well-known names created a lasting public image.</a:t>
            </a:r>
          </a:p>
        </p:txBody>
      </p:sp>
      <p:sp>
        <p:nvSpPr>
          <p:cNvPr id="16" name="">
            <a:extLst xmlns:a="http://schemas.openxmlformats.org/drawingml/2006/main">
              <a:ext uri="{FF2B5EF4-FFF2-40B4-BE49-F238E27FC236}">
                <a16:creationId xmlns:a16="http://schemas.microsoft.com/office/drawing/2014/main" id="{D569AAB5-1F95-4F3D-A835-83F7D800E4FB}"/>
              </a:ext>
            </a:extLst>
          </p:cNvPr>
          <p:cNvSpPr>
            <a:spLocks xmlns:a="http://schemas.openxmlformats.org/drawingml/2006/main" noGrp="1"/>
          </p:cNvSpPr>
          <p:nvPr/>
        </p:nvSpPr>
        <p:spPr>
          <a:xfrm xmlns:a="http://schemas.openxmlformats.org/drawingml/2006/main">
            <a:off x="609600" y="61436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766A60"/>
                </a:solidFill>
                <a:latin typeface="DejaVu Sans Mono"/>
                <a:ea typeface="DejaVu Sans Mono"/>
                <a:cs typeface="DejaVu Sans Mono"/>
              </a:defRPr>
            </a:pPr>
            <a:r>
              <a:rPr sz="1125" b="1" i="0">
                <a:solidFill>
                  <a:srgbClr val="766A60"/>
                </a:solidFill>
                <a:latin typeface="DejaVu Sans Mono"/>
                <a:ea typeface="DejaVu Sans Mono"/>
                <a:cs typeface="DejaVu Sans Mono"/>
              </a:rPr>
              <a:t>The nickname came from the media. It did not mean a luxury prison.</a:t>
            </a:r>
          </a:p>
        </p:txBody>
      </p:sp>
    </p:spTree>
    <p:extLst>
      <p:ext uri="{BB962C8B-B14F-4D97-AF65-F5344CB8AC3E}">
        <p14:creationId xmlns:p14="http://schemas.microsoft.com/office/powerpoint/2010/main" val="300847927"/>
      </p:ext>
    </p:extLst>
  </p:cSld>
</p:sld>
</file>

<file path=ppt/slides/slide4.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6BB4ED1-3DB2-4300-9BB0-5F04EF31D3CD}"/>
              </a:ext>
            </a:extLst>
          </p:cNvPr>
          <p:cNvSpPr>
            <a:spLocks xmlns:a="http://schemas.openxmlformats.org/drawingml/2006/main" noGrp="1"/>
          </p:cNvSpPr>
          <p:nvPr/>
        </p:nvSpPr>
        <p:spPr>
          <a:xfrm xmlns:a="http://schemas.openxmlformats.org/drawingml/2006/main">
            <a:off x="552450" y="323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TREMEMBÉ PRISON</a:t>
            </a:r>
          </a:p>
        </p:txBody>
      </p:sp>
      <p:sp>
        <p:nvSpPr>
          <p:cNvPr id="2" name="">
            <a:extLst xmlns:a="http://schemas.openxmlformats.org/drawingml/2006/main">
              <a:ext uri="{FF2B5EF4-FFF2-40B4-BE49-F238E27FC236}">
                <a16:creationId xmlns:a16="http://schemas.microsoft.com/office/drawing/2014/main" id="{DD6AEDA3-3E84-486A-8E37-3BB475078B52}"/>
              </a:ext>
            </a:extLst>
          </p:cNvPr>
          <p:cNvSpPr>
            <a:spLocks xmlns:a="http://schemas.openxmlformats.org/drawingml/2006/main" noGrp="1"/>
          </p:cNvSpPr>
          <p:nvPr/>
        </p:nvSpPr>
        <p:spPr>
          <a:xfrm xmlns:a="http://schemas.openxmlformats.org/drawingml/2006/main">
            <a:off x="10953750" y="25717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04</a:t>
            </a:r>
          </a:p>
        </p:txBody>
      </p:sp>
      <p:sp>
        <p:nvSpPr>
          <p:cNvPr id="3" name="">
            <a:extLst xmlns:a="http://schemas.openxmlformats.org/drawingml/2006/main">
              <a:ext uri="{FF2B5EF4-FFF2-40B4-BE49-F238E27FC236}">
                <a16:creationId xmlns:a16="http://schemas.microsoft.com/office/drawing/2014/main" id="{36D86E22-846A-4A24-B769-DB914CA59F99}"/>
              </a:ext>
            </a:extLst>
          </p:cNvPr>
          <p:cNvSpPr>
            <a:spLocks xmlns:a="http://schemas.openxmlformats.org/drawingml/2006/main" noGrp="1"/>
          </p:cNvSpPr>
          <p:nvPr/>
        </p:nvSpPr>
        <p:spPr>
          <a:xfrm xmlns:a="http://schemas.openxmlformats.org/drawingml/2006/main">
            <a:off x="552450" y="742950"/>
            <a:ext cx="11087100" cy="0"/>
          </a:xfrm>
          <a:prstGeom xmlns:a="http://schemas.openxmlformats.org/drawingml/2006/main" prst="line">
            <a:avLst/>
          </a:prstGeom>
          <a:noFill xmlns:a="http://schemas.openxmlformats.org/drawingml/2006/main"/>
          <a:ln xmlns:a="http://schemas.openxmlformats.org/drawingml/2006/main" w="19050">
            <a:solidFill>
              <a:srgbClr val="4B2B20"/>
            </a:solidFill>
            <a:prstDash val="solid"/>
          </a:ln>
        </p:spPr>
      </p:sp>
      <p:sp>
        <p:nvSpPr>
          <p:cNvPr id="4" name="">
            <a:extLst xmlns:a="http://schemas.openxmlformats.org/drawingml/2006/main">
              <a:ext uri="{FF2B5EF4-FFF2-40B4-BE49-F238E27FC236}">
                <a16:creationId xmlns:a16="http://schemas.microsoft.com/office/drawing/2014/main" id="{E30B1AD0-8BD3-4BA7-8AA2-3E0E6C6C8201}"/>
              </a:ext>
            </a:extLst>
          </p:cNvPr>
          <p:cNvSpPr>
            <a:spLocks xmlns:a="http://schemas.openxmlformats.org/drawingml/2006/main" noGrp="1"/>
          </p:cNvSpPr>
          <p:nvPr/>
        </p:nvSpPr>
        <p:spPr>
          <a:xfrm xmlns:a="http://schemas.openxmlformats.org/drawingml/2006/main">
            <a:off x="552450" y="971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301D17"/>
                </a:solidFill>
                <a:latin typeface="Liberation Sans"/>
                <a:ea typeface="Liberation Sans"/>
                <a:cs typeface="Liberation Sans"/>
              </a:defRPr>
            </a:pPr>
            <a:r>
              <a:rPr sz="2850" b="1" i="0">
                <a:solidFill>
                  <a:srgbClr val="301D17"/>
                </a:solidFill>
                <a:latin typeface="Liberation Sans"/>
                <a:ea typeface="Liberation Sans"/>
                <a:cs typeface="Liberation Sans"/>
              </a:rPr>
              <a:t>Who Was Imprisoned There?</a:t>
            </a:r>
          </a:p>
        </p:txBody>
      </p:sp>
      <p:sp>
        <p:nvSpPr>
          <p:cNvPr id="5" name="">
            <a:extLst xmlns:a="http://schemas.openxmlformats.org/drawingml/2006/main">
              <a:ext uri="{FF2B5EF4-FFF2-40B4-BE49-F238E27FC236}">
                <a16:creationId xmlns:a16="http://schemas.microsoft.com/office/drawing/2014/main" id="{41779E88-4728-46D3-9FF8-CA63A5F0BFCE}"/>
              </a:ext>
            </a:extLst>
          </p:cNvPr>
          <p:cNvSpPr>
            <a:spLocks xmlns:a="http://schemas.openxmlformats.org/drawingml/2006/main" noGrp="1"/>
          </p:cNvSpPr>
          <p:nvPr/>
        </p:nvSpPr>
        <p:spPr>
          <a:xfrm xmlns:a="http://schemas.openxmlformats.org/drawingml/2006/main">
            <a:off x="590550" y="1685925"/>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i="0">
                <a:solidFill>
                  <a:srgbClr val="8F3D31"/>
                </a:solidFill>
                <a:latin typeface="DejaVu Sans Mono"/>
                <a:ea typeface="DejaVu Sans Mono"/>
                <a:cs typeface="DejaVu Sans Mono"/>
              </a:defRPr>
            </a:pPr>
            <a:r>
              <a:rPr sz="1050" b="1" i="0">
                <a:solidFill>
                  <a:srgbClr val="8F3D31"/>
                </a:solidFill>
                <a:latin typeface="DejaVu Sans Mono"/>
                <a:ea typeface="DejaVu Sans Mono"/>
                <a:cs typeface="DejaVu Sans Mono"/>
              </a:rPr>
              <a:t>FORMER INMATES CONNECTED TO NATIONALLY KNOWN CASES</a:t>
            </a:r>
          </a:p>
        </p:txBody>
      </p:sp>
      <p:sp>
        <p:nvSpPr>
          <p:cNvPr id="6" name="">
            <a:extLst xmlns:a="http://schemas.openxmlformats.org/drawingml/2006/main">
              <a:ext uri="{FF2B5EF4-FFF2-40B4-BE49-F238E27FC236}">
                <a16:creationId xmlns:a16="http://schemas.microsoft.com/office/drawing/2014/main" id="{5D2193EE-5B00-4F9B-BE65-536FDD3D377A}"/>
              </a:ext>
            </a:extLst>
          </p:cNvPr>
          <p:cNvSpPr>
            <a:spLocks xmlns:a="http://schemas.openxmlformats.org/drawingml/2006/main" noGrp="1"/>
          </p:cNvSpPr>
          <p:nvPr/>
        </p:nvSpPr>
        <p:spPr>
          <a:xfrm xmlns:a="http://schemas.openxmlformats.org/drawingml/2006/main">
            <a:off x="666750" y="223837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8F3D31"/>
                </a:solidFill>
                <a:latin typeface="DejaVu Sans Mono"/>
                <a:ea typeface="DejaVu Sans Mono"/>
                <a:cs typeface="DejaVu Sans Mono"/>
              </a:defRPr>
            </a:pPr>
            <a:r>
              <a:rPr sz="1500" b="1" i="0">
                <a:solidFill>
                  <a:srgbClr val="8F3D31"/>
                </a:solidFill>
                <a:latin typeface="DejaVu Sans Mono"/>
                <a:ea typeface="DejaVu Sans Mono"/>
                <a:cs typeface="DejaVu Sans Mono"/>
              </a:rPr>
              <a:t>01</a:t>
            </a:r>
          </a:p>
        </p:txBody>
      </p:sp>
      <p:sp>
        <p:nvSpPr>
          <p:cNvPr id="7" name="">
            <a:extLst xmlns:a="http://schemas.openxmlformats.org/drawingml/2006/main">
              <a:ext uri="{FF2B5EF4-FFF2-40B4-BE49-F238E27FC236}">
                <a16:creationId xmlns:a16="http://schemas.microsoft.com/office/drawing/2014/main" id="{DBE2B8B0-90A1-4145-85F8-F34769B3AB42}"/>
              </a:ext>
            </a:extLst>
          </p:cNvPr>
          <p:cNvSpPr>
            <a:spLocks xmlns:a="http://schemas.openxmlformats.org/drawingml/2006/main" noGrp="1"/>
          </p:cNvSpPr>
          <p:nvPr/>
        </p:nvSpPr>
        <p:spPr>
          <a:xfrm xmlns:a="http://schemas.openxmlformats.org/drawingml/2006/main">
            <a:off x="1571625" y="2190750"/>
            <a:ext cx="833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i="0">
                <a:solidFill>
                  <a:srgbClr val="301D17"/>
                </a:solidFill>
                <a:latin typeface="Liberation Sans"/>
                <a:ea typeface="Liberation Sans"/>
                <a:cs typeface="Liberation Sans"/>
              </a:defRPr>
            </a:pPr>
            <a:r>
              <a:rPr sz="2475" b="1" i="0">
                <a:solidFill>
                  <a:srgbClr val="301D17"/>
                </a:solidFill>
                <a:latin typeface="Liberation Sans"/>
                <a:ea typeface="Liberation Sans"/>
                <a:cs typeface="Liberation Sans"/>
              </a:rPr>
              <a:t>Suzane von Richthofen</a:t>
            </a:r>
          </a:p>
        </p:txBody>
      </p:sp>
      <p:sp>
        <p:nvSpPr>
          <p:cNvPr id="8" name="">
            <a:extLst xmlns:a="http://schemas.openxmlformats.org/drawingml/2006/main">
              <a:ext uri="{FF2B5EF4-FFF2-40B4-BE49-F238E27FC236}">
                <a16:creationId xmlns:a16="http://schemas.microsoft.com/office/drawing/2014/main" id="{0343B0A6-4723-4FCB-B59E-8993F238FE8E}"/>
              </a:ext>
            </a:extLst>
          </p:cNvPr>
          <p:cNvSpPr>
            <a:spLocks xmlns:a="http://schemas.openxmlformats.org/drawingml/2006/main" noGrp="1"/>
          </p:cNvSpPr>
          <p:nvPr/>
        </p:nvSpPr>
        <p:spPr>
          <a:xfrm xmlns:a="http://schemas.openxmlformats.org/drawingml/2006/main">
            <a:off x="9906000" y="23050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1" i="0">
                <a:solidFill>
                  <a:srgbClr val="766A60"/>
                </a:solidFill>
                <a:latin typeface="DejaVu Sans Mono"/>
                <a:ea typeface="DejaVu Sans Mono"/>
                <a:cs typeface="DejaVu Sans Mono"/>
              </a:defRPr>
            </a:pPr>
            <a:r>
              <a:rPr sz="975" b="1" i="0">
                <a:solidFill>
                  <a:srgbClr val="766A60"/>
                </a:solidFill>
                <a:latin typeface="DejaVu Sans Mono"/>
                <a:ea typeface="DejaVu Sans Mono"/>
                <a:cs typeface="DejaVu Sans Mono"/>
              </a:rPr>
              <a:t>FORMER INMATE</a:t>
            </a:r>
          </a:p>
        </p:txBody>
      </p:sp>
      <p:sp>
        <p:nvSpPr>
          <p:cNvPr id="9" name="">
            <a:extLst xmlns:a="http://schemas.openxmlformats.org/drawingml/2006/main">
              <a:ext uri="{FF2B5EF4-FFF2-40B4-BE49-F238E27FC236}">
                <a16:creationId xmlns:a16="http://schemas.microsoft.com/office/drawing/2014/main" id="{8C0A800B-B4CF-400A-9E34-BA68B3928872}"/>
              </a:ext>
            </a:extLst>
          </p:cNvPr>
          <p:cNvSpPr>
            <a:spLocks xmlns:a="http://schemas.openxmlformats.org/drawingml/2006/main" noGrp="1"/>
          </p:cNvSpPr>
          <p:nvPr/>
        </p:nvSpPr>
        <p:spPr>
          <a:xfrm xmlns:a="http://schemas.openxmlformats.org/drawingml/2006/main">
            <a:off x="666750" y="2828925"/>
            <a:ext cx="10810875" cy="0"/>
          </a:xfrm>
          <a:prstGeom xmlns:a="http://schemas.openxmlformats.org/drawingml/2006/main" prst="line">
            <a:avLst/>
          </a:prstGeom>
          <a:noFill xmlns:a="http://schemas.openxmlformats.org/drawingml/2006/main"/>
          <a:ln xmlns:a="http://schemas.openxmlformats.org/drawingml/2006/main" w="14288">
            <a:solidFill>
              <a:srgbClr val="B78B4D"/>
            </a:solidFill>
            <a:prstDash val="solid"/>
          </a:ln>
        </p:spPr>
      </p:sp>
      <p:sp>
        <p:nvSpPr>
          <p:cNvPr id="10" name="">
            <a:extLst xmlns:a="http://schemas.openxmlformats.org/drawingml/2006/main">
              <a:ext uri="{FF2B5EF4-FFF2-40B4-BE49-F238E27FC236}">
                <a16:creationId xmlns:a16="http://schemas.microsoft.com/office/drawing/2014/main" id="{511E5628-EA33-4C9F-B548-E32CD0B33E4B}"/>
              </a:ext>
            </a:extLst>
          </p:cNvPr>
          <p:cNvSpPr>
            <a:spLocks xmlns:a="http://schemas.openxmlformats.org/drawingml/2006/main" noGrp="1"/>
          </p:cNvSpPr>
          <p:nvPr/>
        </p:nvSpPr>
        <p:spPr>
          <a:xfrm xmlns:a="http://schemas.openxmlformats.org/drawingml/2006/main">
            <a:off x="666750" y="320992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8F3D31"/>
                </a:solidFill>
                <a:latin typeface="DejaVu Sans Mono"/>
                <a:ea typeface="DejaVu Sans Mono"/>
                <a:cs typeface="DejaVu Sans Mono"/>
              </a:defRPr>
            </a:pPr>
            <a:r>
              <a:rPr sz="1500" b="1" i="0">
                <a:solidFill>
                  <a:srgbClr val="8F3D31"/>
                </a:solidFill>
                <a:latin typeface="DejaVu Sans Mono"/>
                <a:ea typeface="DejaVu Sans Mono"/>
                <a:cs typeface="DejaVu Sans Mono"/>
              </a:rPr>
              <a:t>02</a:t>
            </a:r>
          </a:p>
        </p:txBody>
      </p:sp>
      <p:sp>
        <p:nvSpPr>
          <p:cNvPr id="11" name="">
            <a:extLst xmlns:a="http://schemas.openxmlformats.org/drawingml/2006/main">
              <a:ext uri="{FF2B5EF4-FFF2-40B4-BE49-F238E27FC236}">
                <a16:creationId xmlns:a16="http://schemas.microsoft.com/office/drawing/2014/main" id="{B857B59D-A2A6-4141-BB8A-B0E725D8730D}"/>
              </a:ext>
            </a:extLst>
          </p:cNvPr>
          <p:cNvSpPr>
            <a:spLocks xmlns:a="http://schemas.openxmlformats.org/drawingml/2006/main" noGrp="1"/>
          </p:cNvSpPr>
          <p:nvPr/>
        </p:nvSpPr>
        <p:spPr>
          <a:xfrm xmlns:a="http://schemas.openxmlformats.org/drawingml/2006/main">
            <a:off x="1571625" y="3162300"/>
            <a:ext cx="833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i="0">
                <a:solidFill>
                  <a:srgbClr val="301D17"/>
                </a:solidFill>
                <a:latin typeface="Liberation Sans"/>
                <a:ea typeface="Liberation Sans"/>
                <a:cs typeface="Liberation Sans"/>
              </a:defRPr>
            </a:pPr>
            <a:r>
              <a:rPr sz="2475" b="1" i="0">
                <a:solidFill>
                  <a:srgbClr val="301D17"/>
                </a:solidFill>
                <a:latin typeface="Liberation Sans"/>
                <a:ea typeface="Liberation Sans"/>
                <a:cs typeface="Liberation Sans"/>
              </a:rPr>
              <a:t>Alexandre Nardoni</a:t>
            </a:r>
          </a:p>
        </p:txBody>
      </p:sp>
      <p:sp>
        <p:nvSpPr>
          <p:cNvPr id="12" name="">
            <a:extLst xmlns:a="http://schemas.openxmlformats.org/drawingml/2006/main">
              <a:ext uri="{FF2B5EF4-FFF2-40B4-BE49-F238E27FC236}">
                <a16:creationId xmlns:a16="http://schemas.microsoft.com/office/drawing/2014/main" id="{6FF1A3FF-BC78-4D02-8BC9-51806A9F71D1}"/>
              </a:ext>
            </a:extLst>
          </p:cNvPr>
          <p:cNvSpPr>
            <a:spLocks xmlns:a="http://schemas.openxmlformats.org/drawingml/2006/main" noGrp="1"/>
          </p:cNvSpPr>
          <p:nvPr/>
        </p:nvSpPr>
        <p:spPr>
          <a:xfrm xmlns:a="http://schemas.openxmlformats.org/drawingml/2006/main">
            <a:off x="9906000" y="32766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1" i="0">
                <a:solidFill>
                  <a:srgbClr val="766A60"/>
                </a:solidFill>
                <a:latin typeface="DejaVu Sans Mono"/>
                <a:ea typeface="DejaVu Sans Mono"/>
                <a:cs typeface="DejaVu Sans Mono"/>
              </a:defRPr>
            </a:pPr>
            <a:r>
              <a:rPr sz="975" b="1" i="0">
                <a:solidFill>
                  <a:srgbClr val="766A60"/>
                </a:solidFill>
                <a:latin typeface="DejaVu Sans Mono"/>
                <a:ea typeface="DejaVu Sans Mono"/>
                <a:cs typeface="DejaVu Sans Mono"/>
              </a:rPr>
              <a:t>FORMER INMATE</a:t>
            </a:r>
          </a:p>
        </p:txBody>
      </p:sp>
      <p:sp>
        <p:nvSpPr>
          <p:cNvPr id="13" name="">
            <a:extLst xmlns:a="http://schemas.openxmlformats.org/drawingml/2006/main">
              <a:ext uri="{FF2B5EF4-FFF2-40B4-BE49-F238E27FC236}">
                <a16:creationId xmlns:a16="http://schemas.microsoft.com/office/drawing/2014/main" id="{127C2A72-71DB-4D44-933E-C7F1531EEAC3}"/>
              </a:ext>
            </a:extLst>
          </p:cNvPr>
          <p:cNvSpPr>
            <a:spLocks xmlns:a="http://schemas.openxmlformats.org/drawingml/2006/main" noGrp="1"/>
          </p:cNvSpPr>
          <p:nvPr/>
        </p:nvSpPr>
        <p:spPr>
          <a:xfrm xmlns:a="http://schemas.openxmlformats.org/drawingml/2006/main">
            <a:off x="666750" y="3800475"/>
            <a:ext cx="10810875" cy="0"/>
          </a:xfrm>
          <a:prstGeom xmlns:a="http://schemas.openxmlformats.org/drawingml/2006/main" prst="line">
            <a:avLst/>
          </a:prstGeom>
          <a:noFill xmlns:a="http://schemas.openxmlformats.org/drawingml/2006/main"/>
          <a:ln xmlns:a="http://schemas.openxmlformats.org/drawingml/2006/main" w="14288">
            <a:solidFill>
              <a:srgbClr val="B78B4D"/>
            </a:solidFill>
            <a:prstDash val="solid"/>
          </a:ln>
        </p:spPr>
      </p:sp>
      <p:sp>
        <p:nvSpPr>
          <p:cNvPr id="14" name="">
            <a:extLst xmlns:a="http://schemas.openxmlformats.org/drawingml/2006/main">
              <a:ext uri="{FF2B5EF4-FFF2-40B4-BE49-F238E27FC236}">
                <a16:creationId xmlns:a16="http://schemas.microsoft.com/office/drawing/2014/main" id="{4C9A0A26-8C94-4686-85B6-FA0E24197A0F}"/>
              </a:ext>
            </a:extLst>
          </p:cNvPr>
          <p:cNvSpPr>
            <a:spLocks xmlns:a="http://schemas.openxmlformats.org/drawingml/2006/main" noGrp="1"/>
          </p:cNvSpPr>
          <p:nvPr/>
        </p:nvSpPr>
        <p:spPr>
          <a:xfrm xmlns:a="http://schemas.openxmlformats.org/drawingml/2006/main">
            <a:off x="666750" y="418147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8F3D31"/>
                </a:solidFill>
                <a:latin typeface="DejaVu Sans Mono"/>
                <a:ea typeface="DejaVu Sans Mono"/>
                <a:cs typeface="DejaVu Sans Mono"/>
              </a:defRPr>
            </a:pPr>
            <a:r>
              <a:rPr sz="1500" b="1" i="0">
                <a:solidFill>
                  <a:srgbClr val="8F3D31"/>
                </a:solidFill>
                <a:latin typeface="DejaVu Sans Mono"/>
                <a:ea typeface="DejaVu Sans Mono"/>
                <a:cs typeface="DejaVu Sans Mono"/>
              </a:rPr>
              <a:t>03</a:t>
            </a:r>
          </a:p>
        </p:txBody>
      </p:sp>
      <p:sp>
        <p:nvSpPr>
          <p:cNvPr id="15" name="">
            <a:extLst xmlns:a="http://schemas.openxmlformats.org/drawingml/2006/main">
              <a:ext uri="{FF2B5EF4-FFF2-40B4-BE49-F238E27FC236}">
                <a16:creationId xmlns:a16="http://schemas.microsoft.com/office/drawing/2014/main" id="{30CC4C27-71EE-4BB3-8924-53C2CFDBC6E8}"/>
              </a:ext>
            </a:extLst>
          </p:cNvPr>
          <p:cNvSpPr>
            <a:spLocks xmlns:a="http://schemas.openxmlformats.org/drawingml/2006/main" noGrp="1"/>
          </p:cNvSpPr>
          <p:nvPr/>
        </p:nvSpPr>
        <p:spPr>
          <a:xfrm xmlns:a="http://schemas.openxmlformats.org/drawingml/2006/main">
            <a:off x="1571625" y="4133850"/>
            <a:ext cx="833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i="0">
                <a:solidFill>
                  <a:srgbClr val="301D17"/>
                </a:solidFill>
                <a:latin typeface="Liberation Sans"/>
                <a:ea typeface="Liberation Sans"/>
                <a:cs typeface="Liberation Sans"/>
              </a:defRPr>
            </a:pPr>
            <a:r>
              <a:rPr sz="2475" b="1" i="0">
                <a:solidFill>
                  <a:srgbClr val="301D17"/>
                </a:solidFill>
                <a:latin typeface="Liberation Sans"/>
                <a:ea typeface="Liberation Sans"/>
                <a:cs typeface="Liberation Sans"/>
              </a:rPr>
              <a:t>Elize Matsunaga</a:t>
            </a:r>
          </a:p>
        </p:txBody>
      </p:sp>
      <p:sp>
        <p:nvSpPr>
          <p:cNvPr id="16" name="">
            <a:extLst xmlns:a="http://schemas.openxmlformats.org/drawingml/2006/main">
              <a:ext uri="{FF2B5EF4-FFF2-40B4-BE49-F238E27FC236}">
                <a16:creationId xmlns:a16="http://schemas.microsoft.com/office/drawing/2014/main" id="{1886D548-7A30-4167-8C6D-4ACAB29AAE23}"/>
              </a:ext>
            </a:extLst>
          </p:cNvPr>
          <p:cNvSpPr>
            <a:spLocks xmlns:a="http://schemas.openxmlformats.org/drawingml/2006/main" noGrp="1"/>
          </p:cNvSpPr>
          <p:nvPr/>
        </p:nvSpPr>
        <p:spPr>
          <a:xfrm xmlns:a="http://schemas.openxmlformats.org/drawingml/2006/main">
            <a:off x="9906000" y="42481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1" i="0">
                <a:solidFill>
                  <a:srgbClr val="766A60"/>
                </a:solidFill>
                <a:latin typeface="DejaVu Sans Mono"/>
                <a:ea typeface="DejaVu Sans Mono"/>
                <a:cs typeface="DejaVu Sans Mono"/>
              </a:defRPr>
            </a:pPr>
            <a:r>
              <a:rPr sz="975" b="1" i="0">
                <a:solidFill>
                  <a:srgbClr val="766A60"/>
                </a:solidFill>
                <a:latin typeface="DejaVu Sans Mono"/>
                <a:ea typeface="DejaVu Sans Mono"/>
                <a:cs typeface="DejaVu Sans Mono"/>
              </a:rPr>
              <a:t>FORMER INMATE</a:t>
            </a:r>
          </a:p>
        </p:txBody>
      </p:sp>
      <p:sp>
        <p:nvSpPr>
          <p:cNvPr id="17" name="">
            <a:extLst xmlns:a="http://schemas.openxmlformats.org/drawingml/2006/main">
              <a:ext uri="{FF2B5EF4-FFF2-40B4-BE49-F238E27FC236}">
                <a16:creationId xmlns:a16="http://schemas.microsoft.com/office/drawing/2014/main" id="{695F401F-D0D9-4269-BD69-7BB747224543}"/>
              </a:ext>
            </a:extLst>
          </p:cNvPr>
          <p:cNvSpPr>
            <a:spLocks xmlns:a="http://schemas.openxmlformats.org/drawingml/2006/main" noGrp="1"/>
          </p:cNvSpPr>
          <p:nvPr/>
        </p:nvSpPr>
        <p:spPr>
          <a:xfrm xmlns:a="http://schemas.openxmlformats.org/drawingml/2006/main">
            <a:off x="666750" y="4772025"/>
            <a:ext cx="10810875" cy="0"/>
          </a:xfrm>
          <a:prstGeom xmlns:a="http://schemas.openxmlformats.org/drawingml/2006/main" prst="line">
            <a:avLst/>
          </a:prstGeom>
          <a:noFill xmlns:a="http://schemas.openxmlformats.org/drawingml/2006/main"/>
          <a:ln xmlns:a="http://schemas.openxmlformats.org/drawingml/2006/main" w="14288">
            <a:solidFill>
              <a:srgbClr val="B78B4D"/>
            </a:solidFill>
            <a:prstDash val="solid"/>
          </a:ln>
        </p:spPr>
      </p:sp>
      <p:sp>
        <p:nvSpPr>
          <p:cNvPr id="18" name="">
            <a:extLst xmlns:a="http://schemas.openxmlformats.org/drawingml/2006/main">
              <a:ext uri="{FF2B5EF4-FFF2-40B4-BE49-F238E27FC236}">
                <a16:creationId xmlns:a16="http://schemas.microsoft.com/office/drawing/2014/main" id="{1D3266D8-5977-4A5A-9625-5BD5E2B0F49B}"/>
              </a:ext>
            </a:extLst>
          </p:cNvPr>
          <p:cNvSpPr>
            <a:spLocks xmlns:a="http://schemas.openxmlformats.org/drawingml/2006/main" noGrp="1"/>
          </p:cNvSpPr>
          <p:nvPr/>
        </p:nvSpPr>
        <p:spPr>
          <a:xfrm xmlns:a="http://schemas.openxmlformats.org/drawingml/2006/main">
            <a:off x="666750" y="515302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8F3D31"/>
                </a:solidFill>
                <a:latin typeface="DejaVu Sans Mono"/>
                <a:ea typeface="DejaVu Sans Mono"/>
                <a:cs typeface="DejaVu Sans Mono"/>
              </a:defRPr>
            </a:pPr>
            <a:r>
              <a:rPr sz="1500" b="1" i="0">
                <a:solidFill>
                  <a:srgbClr val="8F3D31"/>
                </a:solidFill>
                <a:latin typeface="DejaVu Sans Mono"/>
                <a:ea typeface="DejaVu Sans Mono"/>
                <a:cs typeface="DejaVu Sans Mono"/>
              </a:rPr>
              <a:t>04</a:t>
            </a:r>
          </a:p>
        </p:txBody>
      </p:sp>
      <p:sp>
        <p:nvSpPr>
          <p:cNvPr id="19" name="">
            <a:extLst xmlns:a="http://schemas.openxmlformats.org/drawingml/2006/main">
              <a:ext uri="{FF2B5EF4-FFF2-40B4-BE49-F238E27FC236}">
                <a16:creationId xmlns:a16="http://schemas.microsoft.com/office/drawing/2014/main" id="{D68D8819-492B-4E44-B06D-B4B6C6A7A273}"/>
              </a:ext>
            </a:extLst>
          </p:cNvPr>
          <p:cNvSpPr>
            <a:spLocks xmlns:a="http://schemas.openxmlformats.org/drawingml/2006/main" noGrp="1"/>
          </p:cNvSpPr>
          <p:nvPr/>
        </p:nvSpPr>
        <p:spPr>
          <a:xfrm xmlns:a="http://schemas.openxmlformats.org/drawingml/2006/main">
            <a:off x="1571625" y="5105400"/>
            <a:ext cx="833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i="0">
                <a:solidFill>
                  <a:srgbClr val="301D17"/>
                </a:solidFill>
                <a:latin typeface="Liberation Sans"/>
                <a:ea typeface="Liberation Sans"/>
                <a:cs typeface="Liberation Sans"/>
              </a:defRPr>
            </a:pPr>
            <a:r>
              <a:rPr sz="2475" b="1" i="0">
                <a:solidFill>
                  <a:srgbClr val="301D17"/>
                </a:solidFill>
                <a:latin typeface="Liberation Sans"/>
                <a:ea typeface="Liberation Sans"/>
                <a:cs typeface="Liberation Sans"/>
              </a:rPr>
              <a:t>Cristian Cravinhos</a:t>
            </a:r>
          </a:p>
        </p:txBody>
      </p:sp>
      <p:sp>
        <p:nvSpPr>
          <p:cNvPr id="20" name="">
            <a:extLst xmlns:a="http://schemas.openxmlformats.org/drawingml/2006/main">
              <a:ext uri="{FF2B5EF4-FFF2-40B4-BE49-F238E27FC236}">
                <a16:creationId xmlns:a16="http://schemas.microsoft.com/office/drawing/2014/main" id="{A339FFBC-2861-4DD2-9513-8325DCE519B2}"/>
              </a:ext>
            </a:extLst>
          </p:cNvPr>
          <p:cNvSpPr>
            <a:spLocks xmlns:a="http://schemas.openxmlformats.org/drawingml/2006/main" noGrp="1"/>
          </p:cNvSpPr>
          <p:nvPr/>
        </p:nvSpPr>
        <p:spPr>
          <a:xfrm xmlns:a="http://schemas.openxmlformats.org/drawingml/2006/main">
            <a:off x="9906000" y="52197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1" i="0">
                <a:solidFill>
                  <a:srgbClr val="766A60"/>
                </a:solidFill>
                <a:latin typeface="DejaVu Sans Mono"/>
                <a:ea typeface="DejaVu Sans Mono"/>
                <a:cs typeface="DejaVu Sans Mono"/>
              </a:defRPr>
            </a:pPr>
            <a:r>
              <a:rPr sz="975" b="1" i="0">
                <a:solidFill>
                  <a:srgbClr val="766A60"/>
                </a:solidFill>
                <a:latin typeface="DejaVu Sans Mono"/>
                <a:ea typeface="DejaVu Sans Mono"/>
                <a:cs typeface="DejaVu Sans Mono"/>
              </a:rPr>
              <a:t>FORMER INMATE</a:t>
            </a:r>
          </a:p>
        </p:txBody>
      </p:sp>
      <p:sp>
        <p:nvSpPr>
          <p:cNvPr id="21" name="">
            <a:extLst xmlns:a="http://schemas.openxmlformats.org/drawingml/2006/main">
              <a:ext uri="{FF2B5EF4-FFF2-40B4-BE49-F238E27FC236}">
                <a16:creationId xmlns:a16="http://schemas.microsoft.com/office/drawing/2014/main" id="{EA1C3297-66D7-4298-B514-377CDBAA0E2C}"/>
              </a:ext>
            </a:extLst>
          </p:cNvPr>
          <p:cNvSpPr>
            <a:spLocks xmlns:a="http://schemas.openxmlformats.org/drawingml/2006/main" noGrp="1"/>
          </p:cNvSpPr>
          <p:nvPr/>
        </p:nvSpPr>
        <p:spPr>
          <a:xfrm xmlns:a="http://schemas.openxmlformats.org/drawingml/2006/main">
            <a:off x="666750" y="5743575"/>
            <a:ext cx="10810875" cy="0"/>
          </a:xfrm>
          <a:prstGeom xmlns:a="http://schemas.openxmlformats.org/drawingml/2006/main" prst="line">
            <a:avLst/>
          </a:prstGeom>
          <a:noFill xmlns:a="http://schemas.openxmlformats.org/drawingml/2006/main"/>
          <a:ln xmlns:a="http://schemas.openxmlformats.org/drawingml/2006/main" w="14288">
            <a:solidFill>
              <a:srgbClr val="B78B4D"/>
            </a:solidFill>
            <a:prstDash val="solid"/>
          </a:ln>
        </p:spPr>
      </p:sp>
      <p:sp>
        <p:nvSpPr>
          <p:cNvPr id="22" name="">
            <a:extLst xmlns:a="http://schemas.openxmlformats.org/drawingml/2006/main">
              <a:ext uri="{FF2B5EF4-FFF2-40B4-BE49-F238E27FC236}">
                <a16:creationId xmlns:a16="http://schemas.microsoft.com/office/drawing/2014/main" id="{6E322F8D-0730-4124-99E7-F66FE9BB2AD9}"/>
              </a:ext>
            </a:extLst>
          </p:cNvPr>
          <p:cNvSpPr>
            <a:spLocks xmlns:a="http://schemas.openxmlformats.org/drawingml/2006/main" noGrp="1"/>
          </p:cNvSpPr>
          <p:nvPr/>
        </p:nvSpPr>
        <p:spPr>
          <a:xfrm xmlns:a="http://schemas.openxmlformats.org/drawingml/2006/main">
            <a:off x="666750" y="61531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1">
                <a:solidFill>
                  <a:srgbClr val="766A60"/>
                </a:solidFill>
                <a:latin typeface="Liberation Sans"/>
                <a:ea typeface="Liberation Sans"/>
                <a:cs typeface="Liberation Sans"/>
              </a:defRPr>
            </a:pPr>
            <a:r>
              <a:rPr sz="1350" b="0" i="1">
                <a:solidFill>
                  <a:srgbClr val="766A60"/>
                </a:solidFill>
                <a:latin typeface="Liberation Sans"/>
                <a:ea typeface="Liberation Sans"/>
                <a:cs typeface="Liberation Sans"/>
              </a:rPr>
              <a:t>Each case received extensive media coverage in Brazil.</a:t>
            </a:r>
          </a:p>
        </p:txBody>
      </p:sp>
    </p:spTree>
    <p:extLst>
      <p:ext uri="{BB962C8B-B14F-4D97-AF65-F5344CB8AC3E}">
        <p14:creationId xmlns:p14="http://schemas.microsoft.com/office/powerpoint/2010/main" val="190140078"/>
      </p:ext>
    </p:extLst>
  </p:cSld>
</p:sld>
</file>

<file path=ppt/slides/slide5.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3C76CE9-EC55-4467-B309-0331F211662F}"/>
              </a:ext>
            </a:extLst>
          </p:cNvPr>
          <p:cNvSpPr>
            <a:spLocks xmlns:a="http://schemas.openxmlformats.org/drawingml/2006/main" noGrp="1"/>
          </p:cNvSpPr>
          <p:nvPr/>
        </p:nvSpPr>
        <p:spPr>
          <a:xfrm xmlns:a="http://schemas.openxmlformats.org/drawingml/2006/main">
            <a:off x="552450" y="323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TREMEMBÉ PRISON</a:t>
            </a:r>
          </a:p>
        </p:txBody>
      </p:sp>
      <p:sp>
        <p:nvSpPr>
          <p:cNvPr id="2" name="">
            <a:extLst xmlns:a="http://schemas.openxmlformats.org/drawingml/2006/main">
              <a:ext uri="{FF2B5EF4-FFF2-40B4-BE49-F238E27FC236}">
                <a16:creationId xmlns:a16="http://schemas.microsoft.com/office/drawing/2014/main" id="{8D7BDF62-2A8B-401C-8744-51339F936175}"/>
              </a:ext>
            </a:extLst>
          </p:cNvPr>
          <p:cNvSpPr>
            <a:spLocks xmlns:a="http://schemas.openxmlformats.org/drawingml/2006/main" noGrp="1"/>
          </p:cNvSpPr>
          <p:nvPr/>
        </p:nvSpPr>
        <p:spPr>
          <a:xfrm xmlns:a="http://schemas.openxmlformats.org/drawingml/2006/main">
            <a:off x="10953750" y="25717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05</a:t>
            </a:r>
          </a:p>
        </p:txBody>
      </p:sp>
      <p:sp>
        <p:nvSpPr>
          <p:cNvPr id="3" name="">
            <a:extLst xmlns:a="http://schemas.openxmlformats.org/drawingml/2006/main">
              <a:ext uri="{FF2B5EF4-FFF2-40B4-BE49-F238E27FC236}">
                <a16:creationId xmlns:a16="http://schemas.microsoft.com/office/drawing/2014/main" id="{06C3C250-A262-40F5-BD85-7C8DAEFE4E79}"/>
              </a:ext>
            </a:extLst>
          </p:cNvPr>
          <p:cNvSpPr>
            <a:spLocks xmlns:a="http://schemas.openxmlformats.org/drawingml/2006/main" noGrp="1"/>
          </p:cNvSpPr>
          <p:nvPr/>
        </p:nvSpPr>
        <p:spPr>
          <a:xfrm xmlns:a="http://schemas.openxmlformats.org/drawingml/2006/main">
            <a:off x="552450" y="742950"/>
            <a:ext cx="11087100" cy="0"/>
          </a:xfrm>
          <a:prstGeom xmlns:a="http://schemas.openxmlformats.org/drawingml/2006/main" prst="line">
            <a:avLst/>
          </a:prstGeom>
          <a:noFill xmlns:a="http://schemas.openxmlformats.org/drawingml/2006/main"/>
          <a:ln xmlns:a="http://schemas.openxmlformats.org/drawingml/2006/main" w="19050">
            <a:solidFill>
              <a:srgbClr val="4B2B20"/>
            </a:solidFill>
            <a:prstDash val="solid"/>
          </a:ln>
        </p:spPr>
      </p:sp>
      <p:sp>
        <p:nvSpPr>
          <p:cNvPr id="4" name="">
            <a:extLst xmlns:a="http://schemas.openxmlformats.org/drawingml/2006/main">
              <a:ext uri="{FF2B5EF4-FFF2-40B4-BE49-F238E27FC236}">
                <a16:creationId xmlns:a16="http://schemas.microsoft.com/office/drawing/2014/main" id="{21079010-406F-4F7A-9FFD-D0E6C6174104}"/>
              </a:ext>
            </a:extLst>
          </p:cNvPr>
          <p:cNvSpPr>
            <a:spLocks xmlns:a="http://schemas.openxmlformats.org/drawingml/2006/main" noGrp="1"/>
          </p:cNvSpPr>
          <p:nvPr/>
        </p:nvSpPr>
        <p:spPr>
          <a:xfrm xmlns:a="http://schemas.openxmlformats.org/drawingml/2006/main">
            <a:off x="552450" y="971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301D17"/>
                </a:solidFill>
                <a:latin typeface="Liberation Sans"/>
                <a:ea typeface="Liberation Sans"/>
                <a:cs typeface="Liberation Sans"/>
              </a:defRPr>
            </a:pPr>
            <a:r>
              <a:rPr sz="2850" b="1" i="0">
                <a:solidFill>
                  <a:srgbClr val="301D17"/>
                </a:solidFill>
                <a:latin typeface="Liberation Sans"/>
                <a:ea typeface="Liberation Sans"/>
                <a:cs typeface="Liberation Sans"/>
              </a:rPr>
              <a:t>Life Inside the Prison</a:t>
            </a:r>
          </a:p>
        </p:txBody>
      </p:sp>
      <p:sp>
        <p:nvSpPr>
          <p:cNvPr id="5" name="">
            <a:extLst xmlns:a="http://schemas.openxmlformats.org/drawingml/2006/main">
              <a:ext uri="{FF2B5EF4-FFF2-40B4-BE49-F238E27FC236}">
                <a16:creationId xmlns:a16="http://schemas.microsoft.com/office/drawing/2014/main" id="{2C653426-0648-4175-8E15-C9FA7EDF5195}"/>
              </a:ext>
            </a:extLst>
          </p:cNvPr>
          <p:cNvSpPr>
            <a:spLocks xmlns:a="http://schemas.openxmlformats.org/drawingml/2006/main" noGrp="1"/>
          </p:cNvSpPr>
          <p:nvPr/>
        </p:nvSpPr>
        <p:spPr>
          <a:xfrm xmlns:a="http://schemas.openxmlformats.org/drawingml/2006/main">
            <a:off x="647700" y="1952625"/>
            <a:ext cx="647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F3D31"/>
                </a:solidFill>
                <a:latin typeface="DejaVu Sans Mono"/>
                <a:ea typeface="DejaVu Sans Mono"/>
                <a:cs typeface="DejaVu Sans Mono"/>
              </a:defRPr>
            </a:pPr>
            <a:r>
              <a:rPr sz="1350" b="1" i="0">
                <a:solidFill>
                  <a:srgbClr val="8F3D31"/>
                </a:solidFill>
                <a:latin typeface="DejaVu Sans Mono"/>
                <a:ea typeface="DejaVu Sans Mono"/>
                <a:cs typeface="DejaVu Sans Mono"/>
              </a:rPr>
              <a:t>01</a:t>
            </a:r>
          </a:p>
        </p:txBody>
      </p:sp>
      <p:sp>
        <p:nvSpPr>
          <p:cNvPr id="6" name="">
            <a:extLst xmlns:a="http://schemas.openxmlformats.org/drawingml/2006/main">
              <a:ext uri="{FF2B5EF4-FFF2-40B4-BE49-F238E27FC236}">
                <a16:creationId xmlns:a16="http://schemas.microsoft.com/office/drawing/2014/main" id="{9861F190-D8BE-4F18-A6F4-990E1C8D653B}"/>
              </a:ext>
            </a:extLst>
          </p:cNvPr>
          <p:cNvSpPr>
            <a:spLocks xmlns:a="http://schemas.openxmlformats.org/drawingml/2006/main" noGrp="1"/>
          </p:cNvSpPr>
          <p:nvPr/>
        </p:nvSpPr>
        <p:spPr>
          <a:xfrm xmlns:a="http://schemas.openxmlformats.org/drawingml/2006/main">
            <a:off x="647700" y="25050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4B2B20"/>
                </a:solidFill>
                <a:latin typeface="DejaVu Sans Mono"/>
                <a:ea typeface="DejaVu Sans Mono"/>
                <a:cs typeface="DejaVu Sans Mono"/>
              </a:defRPr>
            </a:pPr>
            <a:r>
              <a:rPr sz="1350" b="1" i="0">
                <a:solidFill>
                  <a:srgbClr val="4B2B20"/>
                </a:solidFill>
                <a:latin typeface="DejaVu Sans Mono"/>
                <a:ea typeface="DejaVu Sans Mono"/>
                <a:cs typeface="DejaVu Sans Mono"/>
              </a:rPr>
              <a:t>SECURITY</a:t>
            </a:r>
          </a:p>
        </p:txBody>
      </p:sp>
      <p:sp>
        <p:nvSpPr>
          <p:cNvPr id="7" name="">
            <a:extLst xmlns:a="http://schemas.openxmlformats.org/drawingml/2006/main">
              <a:ext uri="{FF2B5EF4-FFF2-40B4-BE49-F238E27FC236}">
                <a16:creationId xmlns:a16="http://schemas.microsoft.com/office/drawing/2014/main" id="{A2C50728-EB85-4723-9E40-897230A05D12}"/>
              </a:ext>
            </a:extLst>
          </p:cNvPr>
          <p:cNvSpPr>
            <a:spLocks xmlns:a="http://schemas.openxmlformats.org/drawingml/2006/main" noGrp="1"/>
          </p:cNvSpPr>
          <p:nvPr/>
        </p:nvSpPr>
        <p:spPr>
          <a:xfrm xmlns:a="http://schemas.openxmlformats.org/drawingml/2006/main">
            <a:off x="647700" y="2971800"/>
            <a:ext cx="2333625" cy="0"/>
          </a:xfrm>
          <a:prstGeom xmlns:a="http://schemas.openxmlformats.org/drawingml/2006/main" prst="line">
            <a:avLst/>
          </a:prstGeom>
          <a:noFill xmlns:a="http://schemas.openxmlformats.org/drawingml/2006/main"/>
          <a:ln xmlns:a="http://schemas.openxmlformats.org/drawingml/2006/main" w="28575">
            <a:solidFill>
              <a:srgbClr val="B78B4D"/>
            </a:solidFill>
            <a:prstDash val="solid"/>
          </a:ln>
        </p:spPr>
      </p:sp>
      <p:sp>
        <p:nvSpPr>
          <p:cNvPr id="8" name="">
            <a:extLst xmlns:a="http://schemas.openxmlformats.org/drawingml/2006/main">
              <a:ext uri="{FF2B5EF4-FFF2-40B4-BE49-F238E27FC236}">
                <a16:creationId xmlns:a16="http://schemas.microsoft.com/office/drawing/2014/main" id="{58531770-8105-45EE-9E68-EE20943CAEAF}"/>
              </a:ext>
            </a:extLst>
          </p:cNvPr>
          <p:cNvSpPr>
            <a:spLocks xmlns:a="http://schemas.openxmlformats.org/drawingml/2006/main" noGrp="1"/>
          </p:cNvSpPr>
          <p:nvPr/>
        </p:nvSpPr>
        <p:spPr>
          <a:xfrm xmlns:a="http://schemas.openxmlformats.org/drawingml/2006/main">
            <a:off x="647700" y="3238500"/>
            <a:ext cx="2333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301D17"/>
                </a:solidFill>
                <a:latin typeface="Liberation Sans"/>
                <a:ea typeface="Liberation Sans"/>
                <a:cs typeface="Liberation Sans"/>
              </a:defRPr>
            </a:pPr>
            <a:r>
              <a:rPr sz="1875" b="1" i="0">
                <a:solidFill>
                  <a:srgbClr val="301D17"/>
                </a:solidFill>
                <a:latin typeface="Liberation Sans"/>
                <a:ea typeface="Liberation Sans"/>
                <a:cs typeface="Liberation Sans"/>
              </a:rPr>
              <a:t>Strict rules and daily routines</a:t>
            </a:r>
          </a:p>
        </p:txBody>
      </p:sp>
      <p:sp>
        <p:nvSpPr>
          <p:cNvPr id="9" name="">
            <a:extLst xmlns:a="http://schemas.openxmlformats.org/drawingml/2006/main">
              <a:ext uri="{FF2B5EF4-FFF2-40B4-BE49-F238E27FC236}">
                <a16:creationId xmlns:a16="http://schemas.microsoft.com/office/drawing/2014/main" id="{6C6100CF-F6F1-47E0-893D-9D85BCDADB99}"/>
              </a:ext>
            </a:extLst>
          </p:cNvPr>
          <p:cNvSpPr>
            <a:spLocks xmlns:a="http://schemas.openxmlformats.org/drawingml/2006/main" noGrp="1"/>
          </p:cNvSpPr>
          <p:nvPr/>
        </p:nvSpPr>
        <p:spPr>
          <a:xfrm xmlns:a="http://schemas.openxmlformats.org/drawingml/2006/main">
            <a:off x="3457575" y="1952625"/>
            <a:ext cx="647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F3D31"/>
                </a:solidFill>
                <a:latin typeface="DejaVu Sans Mono"/>
                <a:ea typeface="DejaVu Sans Mono"/>
                <a:cs typeface="DejaVu Sans Mono"/>
              </a:defRPr>
            </a:pPr>
            <a:r>
              <a:rPr sz="1350" b="1" i="0">
                <a:solidFill>
                  <a:srgbClr val="8F3D31"/>
                </a:solidFill>
                <a:latin typeface="DejaVu Sans Mono"/>
                <a:ea typeface="DejaVu Sans Mono"/>
                <a:cs typeface="DejaVu Sans Mono"/>
              </a:rPr>
              <a:t>02</a:t>
            </a:r>
          </a:p>
        </p:txBody>
      </p:sp>
      <p:sp>
        <p:nvSpPr>
          <p:cNvPr id="10" name="">
            <a:extLst xmlns:a="http://schemas.openxmlformats.org/drawingml/2006/main">
              <a:ext uri="{FF2B5EF4-FFF2-40B4-BE49-F238E27FC236}">
                <a16:creationId xmlns:a16="http://schemas.microsoft.com/office/drawing/2014/main" id="{D906B953-15AA-4514-955E-72F2E8B9A3C9}"/>
              </a:ext>
            </a:extLst>
          </p:cNvPr>
          <p:cNvSpPr>
            <a:spLocks xmlns:a="http://schemas.openxmlformats.org/drawingml/2006/main" noGrp="1"/>
          </p:cNvSpPr>
          <p:nvPr/>
        </p:nvSpPr>
        <p:spPr>
          <a:xfrm xmlns:a="http://schemas.openxmlformats.org/drawingml/2006/main">
            <a:off x="3457575" y="25050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4B2B20"/>
                </a:solidFill>
                <a:latin typeface="DejaVu Sans Mono"/>
                <a:ea typeface="DejaVu Sans Mono"/>
                <a:cs typeface="DejaVu Sans Mono"/>
              </a:defRPr>
            </a:pPr>
            <a:r>
              <a:rPr sz="1350" b="1" i="0">
                <a:solidFill>
                  <a:srgbClr val="4B2B20"/>
                </a:solidFill>
                <a:latin typeface="DejaVu Sans Mono"/>
                <a:ea typeface="DejaVu Sans Mono"/>
                <a:cs typeface="DejaVu Sans Mono"/>
              </a:rPr>
              <a:t>WORK</a:t>
            </a:r>
          </a:p>
        </p:txBody>
      </p:sp>
      <p:sp>
        <p:nvSpPr>
          <p:cNvPr id="11" name="">
            <a:extLst xmlns:a="http://schemas.openxmlformats.org/drawingml/2006/main">
              <a:ext uri="{FF2B5EF4-FFF2-40B4-BE49-F238E27FC236}">
                <a16:creationId xmlns:a16="http://schemas.microsoft.com/office/drawing/2014/main" id="{125D7506-667C-41C9-8710-6DC17EF24CD7}"/>
              </a:ext>
            </a:extLst>
          </p:cNvPr>
          <p:cNvSpPr>
            <a:spLocks xmlns:a="http://schemas.openxmlformats.org/drawingml/2006/main" noGrp="1"/>
          </p:cNvSpPr>
          <p:nvPr/>
        </p:nvSpPr>
        <p:spPr>
          <a:xfrm xmlns:a="http://schemas.openxmlformats.org/drawingml/2006/main">
            <a:off x="3457575" y="2971800"/>
            <a:ext cx="2333625" cy="0"/>
          </a:xfrm>
          <a:prstGeom xmlns:a="http://schemas.openxmlformats.org/drawingml/2006/main" prst="line">
            <a:avLst/>
          </a:prstGeom>
          <a:noFill xmlns:a="http://schemas.openxmlformats.org/drawingml/2006/main"/>
          <a:ln xmlns:a="http://schemas.openxmlformats.org/drawingml/2006/main" w="28575">
            <a:solidFill>
              <a:srgbClr val="B78B4D"/>
            </a:solidFill>
            <a:prstDash val="solid"/>
          </a:ln>
        </p:spPr>
      </p:sp>
      <p:sp>
        <p:nvSpPr>
          <p:cNvPr id="12" name="">
            <a:extLst xmlns:a="http://schemas.openxmlformats.org/drawingml/2006/main">
              <a:ext uri="{FF2B5EF4-FFF2-40B4-BE49-F238E27FC236}">
                <a16:creationId xmlns:a16="http://schemas.microsoft.com/office/drawing/2014/main" id="{84D80E2D-637F-488C-B97A-D025714B6C6B}"/>
              </a:ext>
            </a:extLst>
          </p:cNvPr>
          <p:cNvSpPr>
            <a:spLocks xmlns:a="http://schemas.openxmlformats.org/drawingml/2006/main" noGrp="1"/>
          </p:cNvSpPr>
          <p:nvPr/>
        </p:nvSpPr>
        <p:spPr>
          <a:xfrm xmlns:a="http://schemas.openxmlformats.org/drawingml/2006/main">
            <a:off x="3457575" y="3238500"/>
            <a:ext cx="2333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301D17"/>
                </a:solidFill>
                <a:latin typeface="Liberation Sans"/>
                <a:ea typeface="Liberation Sans"/>
                <a:cs typeface="Liberation Sans"/>
              </a:defRPr>
            </a:pPr>
            <a:r>
              <a:rPr sz="1875" b="1" i="0">
                <a:solidFill>
                  <a:srgbClr val="301D17"/>
                </a:solidFill>
                <a:latin typeface="Liberation Sans"/>
                <a:ea typeface="Liberation Sans"/>
                <a:cs typeface="Liberation Sans"/>
              </a:rPr>
              <a:t>Prison labor and vocational activities</a:t>
            </a:r>
          </a:p>
        </p:txBody>
      </p:sp>
      <p:sp>
        <p:nvSpPr>
          <p:cNvPr id="13" name="">
            <a:extLst xmlns:a="http://schemas.openxmlformats.org/drawingml/2006/main">
              <a:ext uri="{FF2B5EF4-FFF2-40B4-BE49-F238E27FC236}">
                <a16:creationId xmlns:a16="http://schemas.microsoft.com/office/drawing/2014/main" id="{B45EBA74-FAE3-4B6A-AAE3-5C6C52B9D659}"/>
              </a:ext>
            </a:extLst>
          </p:cNvPr>
          <p:cNvSpPr>
            <a:spLocks xmlns:a="http://schemas.openxmlformats.org/drawingml/2006/main" noGrp="1"/>
          </p:cNvSpPr>
          <p:nvPr/>
        </p:nvSpPr>
        <p:spPr>
          <a:xfrm xmlns:a="http://schemas.openxmlformats.org/drawingml/2006/main">
            <a:off x="6267450" y="1952625"/>
            <a:ext cx="647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F3D31"/>
                </a:solidFill>
                <a:latin typeface="DejaVu Sans Mono"/>
                <a:ea typeface="DejaVu Sans Mono"/>
                <a:cs typeface="DejaVu Sans Mono"/>
              </a:defRPr>
            </a:pPr>
            <a:r>
              <a:rPr sz="1350" b="1" i="0">
                <a:solidFill>
                  <a:srgbClr val="8F3D31"/>
                </a:solidFill>
                <a:latin typeface="DejaVu Sans Mono"/>
                <a:ea typeface="DejaVu Sans Mono"/>
                <a:cs typeface="DejaVu Sans Mono"/>
              </a:rPr>
              <a:t>03</a:t>
            </a:r>
          </a:p>
        </p:txBody>
      </p:sp>
      <p:sp>
        <p:nvSpPr>
          <p:cNvPr id="14" name="">
            <a:extLst xmlns:a="http://schemas.openxmlformats.org/drawingml/2006/main">
              <a:ext uri="{FF2B5EF4-FFF2-40B4-BE49-F238E27FC236}">
                <a16:creationId xmlns:a16="http://schemas.microsoft.com/office/drawing/2014/main" id="{44074341-FF13-42C2-95A3-96BCB0B7D0C7}"/>
              </a:ext>
            </a:extLst>
          </p:cNvPr>
          <p:cNvSpPr>
            <a:spLocks xmlns:a="http://schemas.openxmlformats.org/drawingml/2006/main" noGrp="1"/>
          </p:cNvSpPr>
          <p:nvPr/>
        </p:nvSpPr>
        <p:spPr>
          <a:xfrm xmlns:a="http://schemas.openxmlformats.org/drawingml/2006/main">
            <a:off x="6267450" y="25050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4B2B20"/>
                </a:solidFill>
                <a:latin typeface="DejaVu Sans Mono"/>
                <a:ea typeface="DejaVu Sans Mono"/>
                <a:cs typeface="DejaVu Sans Mono"/>
              </a:defRPr>
            </a:pPr>
            <a:r>
              <a:rPr sz="1350" b="1" i="0">
                <a:solidFill>
                  <a:srgbClr val="4B2B20"/>
                </a:solidFill>
                <a:latin typeface="DejaVu Sans Mono"/>
                <a:ea typeface="DejaVu Sans Mono"/>
                <a:cs typeface="DejaVu Sans Mono"/>
              </a:rPr>
              <a:t>EDUCATION</a:t>
            </a:r>
          </a:p>
        </p:txBody>
      </p:sp>
      <p:sp>
        <p:nvSpPr>
          <p:cNvPr id="15" name="">
            <a:extLst xmlns:a="http://schemas.openxmlformats.org/drawingml/2006/main">
              <a:ext uri="{FF2B5EF4-FFF2-40B4-BE49-F238E27FC236}">
                <a16:creationId xmlns:a16="http://schemas.microsoft.com/office/drawing/2014/main" id="{2D6D2854-9C30-4D30-8C15-CF500A149235}"/>
              </a:ext>
            </a:extLst>
          </p:cNvPr>
          <p:cNvSpPr>
            <a:spLocks xmlns:a="http://schemas.openxmlformats.org/drawingml/2006/main" noGrp="1"/>
          </p:cNvSpPr>
          <p:nvPr/>
        </p:nvSpPr>
        <p:spPr>
          <a:xfrm xmlns:a="http://schemas.openxmlformats.org/drawingml/2006/main">
            <a:off x="6267450" y="2971800"/>
            <a:ext cx="2333625" cy="0"/>
          </a:xfrm>
          <a:prstGeom xmlns:a="http://schemas.openxmlformats.org/drawingml/2006/main" prst="line">
            <a:avLst/>
          </a:prstGeom>
          <a:noFill xmlns:a="http://schemas.openxmlformats.org/drawingml/2006/main"/>
          <a:ln xmlns:a="http://schemas.openxmlformats.org/drawingml/2006/main" w="28575">
            <a:solidFill>
              <a:srgbClr val="B78B4D"/>
            </a:solidFill>
            <a:prstDash val="solid"/>
          </a:ln>
        </p:spPr>
      </p:sp>
      <p:sp>
        <p:nvSpPr>
          <p:cNvPr id="16" name="">
            <a:extLst xmlns:a="http://schemas.openxmlformats.org/drawingml/2006/main">
              <a:ext uri="{FF2B5EF4-FFF2-40B4-BE49-F238E27FC236}">
                <a16:creationId xmlns:a16="http://schemas.microsoft.com/office/drawing/2014/main" id="{E38A825A-E383-4A17-A562-3315ACBAA79A}"/>
              </a:ext>
            </a:extLst>
          </p:cNvPr>
          <p:cNvSpPr>
            <a:spLocks xmlns:a="http://schemas.openxmlformats.org/drawingml/2006/main" noGrp="1"/>
          </p:cNvSpPr>
          <p:nvPr/>
        </p:nvSpPr>
        <p:spPr>
          <a:xfrm xmlns:a="http://schemas.openxmlformats.org/drawingml/2006/main">
            <a:off x="6267450" y="3238500"/>
            <a:ext cx="2333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301D17"/>
                </a:solidFill>
                <a:latin typeface="Liberation Sans"/>
                <a:ea typeface="Liberation Sans"/>
                <a:cs typeface="Liberation Sans"/>
              </a:defRPr>
            </a:pPr>
            <a:r>
              <a:rPr sz="1875" b="1" i="0">
                <a:solidFill>
                  <a:srgbClr val="301D17"/>
                </a:solidFill>
                <a:latin typeface="Liberation Sans"/>
                <a:ea typeface="Liberation Sans"/>
                <a:cs typeface="Liberation Sans"/>
              </a:rPr>
              <a:t>Classes, culture and religious programs</a:t>
            </a:r>
          </a:p>
        </p:txBody>
      </p:sp>
      <p:sp>
        <p:nvSpPr>
          <p:cNvPr id="17" name="">
            <a:extLst xmlns:a="http://schemas.openxmlformats.org/drawingml/2006/main">
              <a:ext uri="{FF2B5EF4-FFF2-40B4-BE49-F238E27FC236}">
                <a16:creationId xmlns:a16="http://schemas.microsoft.com/office/drawing/2014/main" id="{828584D1-DAB3-4146-87D0-171BFA4BCD93}"/>
              </a:ext>
            </a:extLst>
          </p:cNvPr>
          <p:cNvSpPr>
            <a:spLocks xmlns:a="http://schemas.openxmlformats.org/drawingml/2006/main" noGrp="1"/>
          </p:cNvSpPr>
          <p:nvPr/>
        </p:nvSpPr>
        <p:spPr>
          <a:xfrm xmlns:a="http://schemas.openxmlformats.org/drawingml/2006/main">
            <a:off x="9077325" y="1952625"/>
            <a:ext cx="647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F3D31"/>
                </a:solidFill>
                <a:latin typeface="DejaVu Sans Mono"/>
                <a:ea typeface="DejaVu Sans Mono"/>
                <a:cs typeface="DejaVu Sans Mono"/>
              </a:defRPr>
            </a:pPr>
            <a:r>
              <a:rPr sz="1350" b="1" i="0">
                <a:solidFill>
                  <a:srgbClr val="8F3D31"/>
                </a:solidFill>
                <a:latin typeface="DejaVu Sans Mono"/>
                <a:ea typeface="DejaVu Sans Mono"/>
                <a:cs typeface="DejaVu Sans Mono"/>
              </a:rPr>
              <a:t>04</a:t>
            </a:r>
          </a:p>
        </p:txBody>
      </p:sp>
      <p:sp>
        <p:nvSpPr>
          <p:cNvPr id="18" name="">
            <a:extLst xmlns:a="http://schemas.openxmlformats.org/drawingml/2006/main">
              <a:ext uri="{FF2B5EF4-FFF2-40B4-BE49-F238E27FC236}">
                <a16:creationId xmlns:a16="http://schemas.microsoft.com/office/drawing/2014/main" id="{6754951A-4A79-4D78-9152-28944B050B5C}"/>
              </a:ext>
            </a:extLst>
          </p:cNvPr>
          <p:cNvSpPr>
            <a:spLocks xmlns:a="http://schemas.openxmlformats.org/drawingml/2006/main" noGrp="1"/>
          </p:cNvSpPr>
          <p:nvPr/>
        </p:nvSpPr>
        <p:spPr>
          <a:xfrm xmlns:a="http://schemas.openxmlformats.org/drawingml/2006/main">
            <a:off x="9077325" y="25050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4B2B20"/>
                </a:solidFill>
                <a:latin typeface="DejaVu Sans Mono"/>
                <a:ea typeface="DejaVu Sans Mono"/>
                <a:cs typeface="DejaVu Sans Mono"/>
              </a:defRPr>
            </a:pPr>
            <a:r>
              <a:rPr sz="1350" b="1" i="0">
                <a:solidFill>
                  <a:srgbClr val="4B2B20"/>
                </a:solidFill>
                <a:latin typeface="DejaVu Sans Mono"/>
                <a:ea typeface="DejaVu Sans Mono"/>
                <a:cs typeface="DejaVu Sans Mono"/>
              </a:rPr>
              <a:t>GARDEN</a:t>
            </a:r>
          </a:p>
        </p:txBody>
      </p:sp>
      <p:sp>
        <p:nvSpPr>
          <p:cNvPr id="19" name="">
            <a:extLst xmlns:a="http://schemas.openxmlformats.org/drawingml/2006/main">
              <a:ext uri="{FF2B5EF4-FFF2-40B4-BE49-F238E27FC236}">
                <a16:creationId xmlns:a16="http://schemas.microsoft.com/office/drawing/2014/main" id="{048F8564-40F9-48DD-AC62-5328FE4EE630}"/>
              </a:ext>
            </a:extLst>
          </p:cNvPr>
          <p:cNvSpPr>
            <a:spLocks xmlns:a="http://schemas.openxmlformats.org/drawingml/2006/main" noGrp="1"/>
          </p:cNvSpPr>
          <p:nvPr/>
        </p:nvSpPr>
        <p:spPr>
          <a:xfrm xmlns:a="http://schemas.openxmlformats.org/drawingml/2006/main">
            <a:off x="9077325" y="2971800"/>
            <a:ext cx="2333625" cy="0"/>
          </a:xfrm>
          <a:prstGeom xmlns:a="http://schemas.openxmlformats.org/drawingml/2006/main" prst="line">
            <a:avLst/>
          </a:prstGeom>
          <a:noFill xmlns:a="http://schemas.openxmlformats.org/drawingml/2006/main"/>
          <a:ln xmlns:a="http://schemas.openxmlformats.org/drawingml/2006/main" w="28575">
            <a:solidFill>
              <a:srgbClr val="B78B4D"/>
            </a:solidFill>
            <a:prstDash val="solid"/>
          </a:ln>
        </p:spPr>
      </p:sp>
      <p:sp>
        <p:nvSpPr>
          <p:cNvPr id="20" name="">
            <a:extLst xmlns:a="http://schemas.openxmlformats.org/drawingml/2006/main">
              <a:ext uri="{FF2B5EF4-FFF2-40B4-BE49-F238E27FC236}">
                <a16:creationId xmlns:a16="http://schemas.microsoft.com/office/drawing/2014/main" id="{D4496E30-0910-49FC-B599-1C1B46DE3BA3}"/>
              </a:ext>
            </a:extLst>
          </p:cNvPr>
          <p:cNvSpPr>
            <a:spLocks xmlns:a="http://schemas.openxmlformats.org/drawingml/2006/main" noGrp="1"/>
          </p:cNvSpPr>
          <p:nvPr/>
        </p:nvSpPr>
        <p:spPr>
          <a:xfrm xmlns:a="http://schemas.openxmlformats.org/drawingml/2006/main">
            <a:off x="9077325" y="3238500"/>
            <a:ext cx="2333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301D17"/>
                </a:solidFill>
                <a:latin typeface="Liberation Sans"/>
                <a:ea typeface="Liberation Sans"/>
                <a:cs typeface="Liberation Sans"/>
              </a:defRPr>
            </a:pPr>
            <a:r>
              <a:rPr sz="1875" b="1" i="0">
                <a:solidFill>
                  <a:srgbClr val="301D17"/>
                </a:solidFill>
                <a:latin typeface="Liberation Sans"/>
                <a:ea typeface="Liberation Sans"/>
                <a:cs typeface="Liberation Sans"/>
              </a:rPr>
              <a:t>Vegetable and herb production at P2</a:t>
            </a:r>
          </a:p>
        </p:txBody>
      </p:sp>
      <p:sp>
        <p:nvSpPr>
          <p:cNvPr id="21" name="">
            <a:extLst xmlns:a="http://schemas.openxmlformats.org/drawingml/2006/main">
              <a:ext uri="{FF2B5EF4-FFF2-40B4-BE49-F238E27FC236}">
                <a16:creationId xmlns:a16="http://schemas.microsoft.com/office/drawing/2014/main" id="{2345F226-25CD-4531-BB30-A27234F341AD}"/>
              </a:ext>
            </a:extLst>
          </p:cNvPr>
          <p:cNvSpPr>
            <a:spLocks xmlns:a="http://schemas.openxmlformats.org/drawingml/2006/main" noGrp="1"/>
          </p:cNvSpPr>
          <p:nvPr/>
        </p:nvSpPr>
        <p:spPr>
          <a:xfrm xmlns:a="http://schemas.openxmlformats.org/drawingml/2006/main">
            <a:off x="628650" y="5095875"/>
            <a:ext cx="10839450" cy="857250"/>
          </a:xfrm>
          <a:prstGeom xmlns:a="http://schemas.openxmlformats.org/drawingml/2006/main" prst="rect">
            <a:avLst/>
          </a:prstGeom>
          <a:solidFill xmlns:a="http://schemas.openxmlformats.org/drawingml/2006/main">
            <a:srgbClr val="4B2B2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CE0D5F2-AA3A-406E-B305-3391F0C4E8DE}"/>
              </a:ext>
            </a:extLst>
          </p:cNvPr>
          <p:cNvSpPr>
            <a:spLocks xmlns:a="http://schemas.openxmlformats.org/drawingml/2006/main" noGrp="1"/>
          </p:cNvSpPr>
          <p:nvPr/>
        </p:nvSpPr>
        <p:spPr>
          <a:xfrm xmlns:a="http://schemas.openxmlformats.org/drawingml/2006/main">
            <a:off x="904875" y="53054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0" i="0">
                <a:solidFill>
                  <a:srgbClr val="FFF9EF"/>
                </a:solidFill>
                <a:latin typeface="Liberation Sans"/>
                <a:ea typeface="Liberation Sans"/>
                <a:cs typeface="Liberation Sans"/>
              </a:defRPr>
            </a:pPr>
            <a:r>
              <a:rPr sz="1650" b="0" i="0">
                <a:solidFill>
                  <a:srgbClr val="FFF9EF"/>
                </a:solidFill>
                <a:latin typeface="Liberation Sans"/>
                <a:ea typeface="Liberation Sans"/>
                <a:cs typeface="Liberation Sans"/>
              </a:rPr>
              <a:t>Official reports describe an organic garden where incarcerated workers grew vegetables and herbs.</a:t>
            </a:r>
          </a:p>
        </p:txBody>
      </p:sp>
    </p:spTree>
    <p:extLst>
      <p:ext uri="{BB962C8B-B14F-4D97-AF65-F5344CB8AC3E}">
        <p14:creationId xmlns:p14="http://schemas.microsoft.com/office/powerpoint/2010/main" val="1115860655"/>
      </p:ext>
    </p:extLst>
  </p:cSld>
</p:sld>
</file>

<file path=ppt/slides/slide6.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821B3DE-FF35-4175-B387-AAD53061B509}"/>
              </a:ext>
            </a:extLst>
          </p:cNvPr>
          <p:cNvSpPr>
            <a:spLocks xmlns:a="http://schemas.openxmlformats.org/drawingml/2006/main" noGrp="1"/>
          </p:cNvSpPr>
          <p:nvPr/>
        </p:nvSpPr>
        <p:spPr>
          <a:xfrm xmlns:a="http://schemas.openxmlformats.org/drawingml/2006/main">
            <a:off x="552450" y="323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TREMEMBÉ PRISON</a:t>
            </a:r>
          </a:p>
        </p:txBody>
      </p:sp>
      <p:sp>
        <p:nvSpPr>
          <p:cNvPr id="2" name="">
            <a:extLst xmlns:a="http://schemas.openxmlformats.org/drawingml/2006/main">
              <a:ext uri="{FF2B5EF4-FFF2-40B4-BE49-F238E27FC236}">
                <a16:creationId xmlns:a16="http://schemas.microsoft.com/office/drawing/2014/main" id="{8F40090D-5D8F-403B-B40D-DB236F5DCD8E}"/>
              </a:ext>
            </a:extLst>
          </p:cNvPr>
          <p:cNvSpPr>
            <a:spLocks xmlns:a="http://schemas.openxmlformats.org/drawingml/2006/main" noGrp="1"/>
          </p:cNvSpPr>
          <p:nvPr/>
        </p:nvSpPr>
        <p:spPr>
          <a:xfrm xmlns:a="http://schemas.openxmlformats.org/drawingml/2006/main">
            <a:off x="10953750" y="25717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06</a:t>
            </a:r>
          </a:p>
        </p:txBody>
      </p:sp>
      <p:sp>
        <p:nvSpPr>
          <p:cNvPr id="3" name="">
            <a:extLst xmlns:a="http://schemas.openxmlformats.org/drawingml/2006/main">
              <a:ext uri="{FF2B5EF4-FFF2-40B4-BE49-F238E27FC236}">
                <a16:creationId xmlns:a16="http://schemas.microsoft.com/office/drawing/2014/main" id="{8F58F137-D845-492C-887A-F13689FF2EEC}"/>
              </a:ext>
            </a:extLst>
          </p:cNvPr>
          <p:cNvSpPr>
            <a:spLocks xmlns:a="http://schemas.openxmlformats.org/drawingml/2006/main" noGrp="1"/>
          </p:cNvSpPr>
          <p:nvPr/>
        </p:nvSpPr>
        <p:spPr>
          <a:xfrm xmlns:a="http://schemas.openxmlformats.org/drawingml/2006/main">
            <a:off x="552450" y="742950"/>
            <a:ext cx="11087100" cy="0"/>
          </a:xfrm>
          <a:prstGeom xmlns:a="http://schemas.openxmlformats.org/drawingml/2006/main" prst="line">
            <a:avLst/>
          </a:prstGeom>
          <a:noFill xmlns:a="http://schemas.openxmlformats.org/drawingml/2006/main"/>
          <a:ln xmlns:a="http://schemas.openxmlformats.org/drawingml/2006/main" w="19050">
            <a:solidFill>
              <a:srgbClr val="4B2B20"/>
            </a:solidFill>
            <a:prstDash val="solid"/>
          </a:ln>
        </p:spPr>
      </p:sp>
      <p:sp>
        <p:nvSpPr>
          <p:cNvPr id="4" name="">
            <a:extLst xmlns:a="http://schemas.openxmlformats.org/drawingml/2006/main">
              <a:ext uri="{FF2B5EF4-FFF2-40B4-BE49-F238E27FC236}">
                <a16:creationId xmlns:a16="http://schemas.microsoft.com/office/drawing/2014/main" id="{23D02A42-3DE8-427C-AE0A-6EF8F5949FBD}"/>
              </a:ext>
            </a:extLst>
          </p:cNvPr>
          <p:cNvSpPr>
            <a:spLocks xmlns:a="http://schemas.openxmlformats.org/drawingml/2006/main" noGrp="1"/>
          </p:cNvSpPr>
          <p:nvPr/>
        </p:nvSpPr>
        <p:spPr>
          <a:xfrm xmlns:a="http://schemas.openxmlformats.org/drawingml/2006/main">
            <a:off x="552450" y="971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301D17"/>
                </a:solidFill>
                <a:latin typeface="Liberation Sans"/>
                <a:ea typeface="Liberation Sans"/>
                <a:cs typeface="Liberation Sans"/>
              </a:defRPr>
            </a:pPr>
            <a:r>
              <a:rPr sz="2850" b="1" i="0">
                <a:solidFill>
                  <a:srgbClr val="301D17"/>
                </a:solidFill>
                <a:latin typeface="Liberation Sans"/>
                <a:ea typeface="Liberation Sans"/>
                <a:cs typeface="Liberation Sans"/>
              </a:rPr>
              <a:t>A Famous Story</a:t>
            </a:r>
          </a:p>
        </p:txBody>
      </p:sp>
      <p:sp>
        <p:nvSpPr>
          <p:cNvPr id="5" name="">
            <a:extLst xmlns:a="http://schemas.openxmlformats.org/drawingml/2006/main">
              <a:ext uri="{FF2B5EF4-FFF2-40B4-BE49-F238E27FC236}">
                <a16:creationId xmlns:a16="http://schemas.microsoft.com/office/drawing/2014/main" id="{73DCF629-04A2-42B0-9121-B01C11AD6853}"/>
              </a:ext>
            </a:extLst>
          </p:cNvPr>
          <p:cNvSpPr>
            <a:spLocks xmlns:a="http://schemas.openxmlformats.org/drawingml/2006/main" noGrp="1"/>
          </p:cNvSpPr>
          <p:nvPr/>
        </p:nvSpPr>
        <p:spPr>
          <a:xfrm xmlns:a="http://schemas.openxmlformats.org/drawingml/2006/main">
            <a:off x="600075" y="1714500"/>
            <a:ext cx="971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8F3D31"/>
                </a:solidFill>
                <a:latin typeface="DejaVu Sans Mono"/>
                <a:ea typeface="DejaVu Sans Mono"/>
                <a:cs typeface="DejaVu Sans Mono"/>
              </a:defRPr>
            </a:pPr>
            <a:r>
              <a:rPr sz="2850" b="1" i="0">
                <a:solidFill>
                  <a:srgbClr val="8F3D31"/>
                </a:solidFill>
                <a:latin typeface="DejaVu Sans Mono"/>
                <a:ea typeface="DejaVu Sans Mono"/>
                <a:cs typeface="DejaVu Sans Mono"/>
              </a:rPr>
              <a:t>SUZANE VON RICHTHOFEN</a:t>
            </a:r>
          </a:p>
        </p:txBody>
      </p:sp>
      <p:sp>
        <p:nvSpPr>
          <p:cNvPr id="6" name="">
            <a:extLst xmlns:a="http://schemas.openxmlformats.org/drawingml/2006/main">
              <a:ext uri="{FF2B5EF4-FFF2-40B4-BE49-F238E27FC236}">
                <a16:creationId xmlns:a16="http://schemas.microsoft.com/office/drawing/2014/main" id="{DAC86A7D-3EF7-4018-865A-8E4A1DBE14E1}"/>
              </a:ext>
            </a:extLst>
          </p:cNvPr>
          <p:cNvSpPr>
            <a:spLocks xmlns:a="http://schemas.openxmlformats.org/drawingml/2006/main" noGrp="1"/>
          </p:cNvSpPr>
          <p:nvPr/>
        </p:nvSpPr>
        <p:spPr>
          <a:xfrm xmlns:a="http://schemas.openxmlformats.org/drawingml/2006/main">
            <a:off x="619125" y="238125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i="1">
                <a:solidFill>
                  <a:srgbClr val="4B2B20"/>
                </a:solidFill>
                <a:latin typeface="Liberation Sans"/>
                <a:ea typeface="Liberation Sans"/>
                <a:cs typeface="Liberation Sans"/>
              </a:defRPr>
            </a:pPr>
            <a:r>
              <a:rPr sz="1800" b="0" i="1">
                <a:solidFill>
                  <a:srgbClr val="4B2B20"/>
                </a:solidFill>
                <a:latin typeface="Liberation Sans"/>
                <a:ea typeface="Liberation Sans"/>
                <a:cs typeface="Liberation Sans"/>
              </a:rPr>
              <a:t>Her case became one of Brazil's most discussed criminal cases.</a:t>
            </a:r>
          </a:p>
        </p:txBody>
      </p:sp>
      <p:sp>
        <p:nvSpPr>
          <p:cNvPr id="7" name="">
            <a:extLst xmlns:a="http://schemas.openxmlformats.org/drawingml/2006/main">
              <a:ext uri="{FF2B5EF4-FFF2-40B4-BE49-F238E27FC236}">
                <a16:creationId xmlns:a16="http://schemas.microsoft.com/office/drawing/2014/main" id="{E039E74C-39C0-4644-82A3-EE06F0B3C4B7}"/>
              </a:ext>
            </a:extLst>
          </p:cNvPr>
          <p:cNvSpPr>
            <a:spLocks xmlns:a="http://schemas.openxmlformats.org/drawingml/2006/main" noGrp="1"/>
          </p:cNvSpPr>
          <p:nvPr/>
        </p:nvSpPr>
        <p:spPr>
          <a:xfrm xmlns:a="http://schemas.openxmlformats.org/drawingml/2006/main">
            <a:off x="857250" y="4000500"/>
            <a:ext cx="10382250" cy="0"/>
          </a:xfrm>
          <a:prstGeom xmlns:a="http://schemas.openxmlformats.org/drawingml/2006/main" prst="line">
            <a:avLst/>
          </a:prstGeom>
          <a:noFill xmlns:a="http://schemas.openxmlformats.org/drawingml/2006/main"/>
          <a:ln xmlns:a="http://schemas.openxmlformats.org/drawingml/2006/main" w="47625">
            <a:solidFill>
              <a:srgbClr val="4B2B20"/>
            </a:solidFill>
            <a:prstDash val="solid"/>
          </a:ln>
        </p:spPr>
      </p:sp>
      <p:sp>
        <p:nvSpPr>
          <p:cNvPr id="8" name="">
            <a:extLst xmlns:a="http://schemas.openxmlformats.org/drawingml/2006/main">
              <a:ext uri="{FF2B5EF4-FFF2-40B4-BE49-F238E27FC236}">
                <a16:creationId xmlns:a16="http://schemas.microsoft.com/office/drawing/2014/main" id="{5491DA19-5293-4481-AAF5-F1273DC59E93}"/>
              </a:ext>
            </a:extLst>
          </p:cNvPr>
          <p:cNvSpPr>
            <a:spLocks xmlns:a="http://schemas.openxmlformats.org/drawingml/2006/main" noGrp="1"/>
          </p:cNvSpPr>
          <p:nvPr/>
        </p:nvSpPr>
        <p:spPr>
          <a:xfrm xmlns:a="http://schemas.openxmlformats.org/drawingml/2006/main">
            <a:off x="1333500" y="3829050"/>
            <a:ext cx="381000" cy="381000"/>
          </a:xfrm>
          <a:prstGeom xmlns:a="http://schemas.openxmlformats.org/drawingml/2006/main" prst="rect">
            <a:avLst/>
          </a:prstGeom>
          <a:solidFill xmlns:a="http://schemas.openxmlformats.org/drawingml/2006/main">
            <a:srgbClr val="8F3D31"/>
          </a:solidFill>
          <a:ln xmlns:a="http://schemas.openxmlformats.org/drawingml/2006/main" w="47625">
            <a:solidFill>
              <a:srgbClr val="E9DECA"/>
            </a:solidFill>
            <a:prstDash val="solid"/>
          </a:ln>
        </p:spPr>
      </p:sp>
      <p:sp>
        <p:nvSpPr>
          <p:cNvPr id="9" name="">
            <a:extLst xmlns:a="http://schemas.openxmlformats.org/drawingml/2006/main">
              <a:ext uri="{FF2B5EF4-FFF2-40B4-BE49-F238E27FC236}">
                <a16:creationId xmlns:a16="http://schemas.microsoft.com/office/drawing/2014/main" id="{E1E5AA66-8DA3-4686-8C29-51994E3FD326}"/>
              </a:ext>
            </a:extLst>
          </p:cNvPr>
          <p:cNvSpPr>
            <a:spLocks xmlns:a="http://schemas.openxmlformats.org/drawingml/2006/main" noGrp="1"/>
          </p:cNvSpPr>
          <p:nvPr/>
        </p:nvSpPr>
        <p:spPr>
          <a:xfrm xmlns:a="http://schemas.openxmlformats.org/drawingml/2006/main">
            <a:off x="742950" y="3143250"/>
            <a:ext cx="157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301D17"/>
                </a:solidFill>
                <a:latin typeface="DejaVu Sans Mono"/>
                <a:ea typeface="DejaVu Sans Mono"/>
                <a:cs typeface="DejaVu Sans Mono"/>
              </a:defRPr>
            </a:pPr>
            <a:r>
              <a:rPr sz="1650" b="1" i="0">
                <a:solidFill>
                  <a:srgbClr val="301D17"/>
                </a:solidFill>
                <a:latin typeface="DejaVu Sans Mono"/>
                <a:ea typeface="DejaVu Sans Mono"/>
                <a:cs typeface="DejaVu Sans Mono"/>
              </a:rPr>
              <a:t>2002</a:t>
            </a:r>
          </a:p>
        </p:txBody>
      </p:sp>
      <p:sp>
        <p:nvSpPr>
          <p:cNvPr id="10" name="">
            <a:extLst xmlns:a="http://schemas.openxmlformats.org/drawingml/2006/main">
              <a:ext uri="{FF2B5EF4-FFF2-40B4-BE49-F238E27FC236}">
                <a16:creationId xmlns:a16="http://schemas.microsoft.com/office/drawing/2014/main" id="{37E908F3-0D57-40BA-8B06-56702A7B668E}"/>
              </a:ext>
            </a:extLst>
          </p:cNvPr>
          <p:cNvSpPr>
            <a:spLocks xmlns:a="http://schemas.openxmlformats.org/drawingml/2006/main" noGrp="1"/>
          </p:cNvSpPr>
          <p:nvPr/>
        </p:nvSpPr>
        <p:spPr>
          <a:xfrm xmlns:a="http://schemas.openxmlformats.org/drawingml/2006/main">
            <a:off x="590550" y="4533900"/>
            <a:ext cx="1905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i="0">
                <a:solidFill>
                  <a:srgbClr val="4B2B20"/>
                </a:solidFill>
                <a:latin typeface="Liberation Sans"/>
                <a:ea typeface="Liberation Sans"/>
                <a:cs typeface="Liberation Sans"/>
              </a:defRPr>
            </a:pPr>
            <a:r>
              <a:rPr sz="1500" b="0" i="0">
                <a:solidFill>
                  <a:srgbClr val="4B2B20"/>
                </a:solidFill>
                <a:latin typeface="Liberation Sans"/>
                <a:ea typeface="Liberation Sans"/>
                <a:cs typeface="Liberation Sans"/>
              </a:rPr>
              <a:t>The crime drew</a:t>
            </a:r>
          </a:p>
          <a:p xmlns:a="http://schemas.openxmlformats.org/drawingml/2006/main">
            <a:pPr algn="ctr">
              <a:defRPr sz="1500" b="0" i="0">
                <a:solidFill>
                  <a:srgbClr val="4B2B20"/>
                </a:solidFill>
                <a:latin typeface="Liberation Sans"/>
                <a:ea typeface="Liberation Sans"/>
                <a:cs typeface="Liberation Sans"/>
              </a:defRPr>
            </a:pPr>
            <a:r>
              <a:rPr sz="1500" b="0" i="0">
                <a:solidFill>
                  <a:srgbClr val="4B2B20"/>
                </a:solidFill>
                <a:latin typeface="Liberation Sans"/>
                <a:ea typeface="Liberation Sans"/>
                <a:cs typeface="Liberation Sans"/>
              </a:rPr>
              <a:t>national attention</a:t>
            </a:r>
          </a:p>
        </p:txBody>
      </p:sp>
      <p:sp>
        <p:nvSpPr>
          <p:cNvPr id="11" name="">
            <a:extLst xmlns:a="http://schemas.openxmlformats.org/drawingml/2006/main">
              <a:ext uri="{FF2B5EF4-FFF2-40B4-BE49-F238E27FC236}">
                <a16:creationId xmlns:a16="http://schemas.microsoft.com/office/drawing/2014/main" id="{6CBEE608-A990-4A5A-B43A-A205D1FC8105}"/>
              </a:ext>
            </a:extLst>
          </p:cNvPr>
          <p:cNvSpPr>
            <a:spLocks xmlns:a="http://schemas.openxmlformats.org/drawingml/2006/main" noGrp="1"/>
          </p:cNvSpPr>
          <p:nvPr/>
        </p:nvSpPr>
        <p:spPr>
          <a:xfrm xmlns:a="http://schemas.openxmlformats.org/drawingml/2006/main">
            <a:off x="4905375" y="3829050"/>
            <a:ext cx="381000" cy="381000"/>
          </a:xfrm>
          <a:prstGeom xmlns:a="http://schemas.openxmlformats.org/drawingml/2006/main" prst="rect">
            <a:avLst/>
          </a:prstGeom>
          <a:solidFill xmlns:a="http://schemas.openxmlformats.org/drawingml/2006/main">
            <a:srgbClr val="8F3D31"/>
          </a:solidFill>
          <a:ln xmlns:a="http://schemas.openxmlformats.org/drawingml/2006/main" w="47625">
            <a:solidFill>
              <a:srgbClr val="E9DECA"/>
            </a:solidFill>
            <a:prstDash val="solid"/>
          </a:ln>
        </p:spPr>
      </p:sp>
      <p:sp>
        <p:nvSpPr>
          <p:cNvPr id="12" name="">
            <a:extLst xmlns:a="http://schemas.openxmlformats.org/drawingml/2006/main">
              <a:ext uri="{FF2B5EF4-FFF2-40B4-BE49-F238E27FC236}">
                <a16:creationId xmlns:a16="http://schemas.microsoft.com/office/drawing/2014/main" id="{11BBF98D-3575-434F-A1DC-6FCBB60FC16D}"/>
              </a:ext>
            </a:extLst>
          </p:cNvPr>
          <p:cNvSpPr>
            <a:spLocks xmlns:a="http://schemas.openxmlformats.org/drawingml/2006/main" noGrp="1"/>
          </p:cNvSpPr>
          <p:nvPr/>
        </p:nvSpPr>
        <p:spPr>
          <a:xfrm xmlns:a="http://schemas.openxmlformats.org/drawingml/2006/main">
            <a:off x="4314825" y="3143250"/>
            <a:ext cx="157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301D17"/>
                </a:solidFill>
                <a:latin typeface="DejaVu Sans Mono"/>
                <a:ea typeface="DejaVu Sans Mono"/>
                <a:cs typeface="DejaVu Sans Mono"/>
              </a:defRPr>
            </a:pPr>
            <a:r>
              <a:rPr sz="1650" b="1" i="0">
                <a:solidFill>
                  <a:srgbClr val="301D17"/>
                </a:solidFill>
                <a:latin typeface="DejaVu Sans Mono"/>
                <a:ea typeface="DejaVu Sans Mono"/>
                <a:cs typeface="DejaVu Sans Mono"/>
              </a:rPr>
              <a:t>~20 YEARS</a:t>
            </a:r>
          </a:p>
        </p:txBody>
      </p:sp>
      <p:sp>
        <p:nvSpPr>
          <p:cNvPr id="13" name="">
            <a:extLst xmlns:a="http://schemas.openxmlformats.org/drawingml/2006/main">
              <a:ext uri="{FF2B5EF4-FFF2-40B4-BE49-F238E27FC236}">
                <a16:creationId xmlns:a16="http://schemas.microsoft.com/office/drawing/2014/main" id="{047B3322-5D25-4A51-BE84-FBEAE309C147}"/>
              </a:ext>
            </a:extLst>
          </p:cNvPr>
          <p:cNvSpPr>
            <a:spLocks xmlns:a="http://schemas.openxmlformats.org/drawingml/2006/main" noGrp="1"/>
          </p:cNvSpPr>
          <p:nvPr/>
        </p:nvSpPr>
        <p:spPr>
          <a:xfrm xmlns:a="http://schemas.openxmlformats.org/drawingml/2006/main">
            <a:off x="4162425" y="4533900"/>
            <a:ext cx="1905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i="0">
                <a:solidFill>
                  <a:srgbClr val="4B2B20"/>
                </a:solidFill>
                <a:latin typeface="Liberation Sans"/>
                <a:ea typeface="Liberation Sans"/>
                <a:cs typeface="Liberation Sans"/>
              </a:defRPr>
            </a:pPr>
            <a:r>
              <a:rPr sz="1500" b="0" i="0">
                <a:solidFill>
                  <a:srgbClr val="4B2B20"/>
                </a:solidFill>
                <a:latin typeface="Liberation Sans"/>
                <a:ea typeface="Liberation Sans"/>
                <a:cs typeface="Liberation Sans"/>
              </a:rPr>
              <a:t>Sentence served largely</a:t>
            </a:r>
          </a:p>
          <a:p xmlns:a="http://schemas.openxmlformats.org/drawingml/2006/main">
            <a:pPr algn="ctr">
              <a:defRPr sz="1500" b="0" i="0">
                <a:solidFill>
                  <a:srgbClr val="4B2B20"/>
                </a:solidFill>
                <a:latin typeface="Liberation Sans"/>
                <a:ea typeface="Liberation Sans"/>
                <a:cs typeface="Liberation Sans"/>
              </a:defRPr>
            </a:pPr>
            <a:r>
              <a:rPr sz="1500" b="0" i="0">
                <a:solidFill>
                  <a:srgbClr val="4B2B20"/>
                </a:solidFill>
                <a:latin typeface="Liberation Sans"/>
                <a:ea typeface="Liberation Sans"/>
                <a:cs typeface="Liberation Sans"/>
              </a:rPr>
              <a:t>in Tremembé</a:t>
            </a:r>
          </a:p>
        </p:txBody>
      </p:sp>
      <p:sp>
        <p:nvSpPr>
          <p:cNvPr id="14" name="">
            <a:extLst xmlns:a="http://schemas.openxmlformats.org/drawingml/2006/main">
              <a:ext uri="{FF2B5EF4-FFF2-40B4-BE49-F238E27FC236}">
                <a16:creationId xmlns:a16="http://schemas.microsoft.com/office/drawing/2014/main" id="{16941C4B-7401-4FE5-9096-48E2D18ACAC5}"/>
              </a:ext>
            </a:extLst>
          </p:cNvPr>
          <p:cNvSpPr>
            <a:spLocks xmlns:a="http://schemas.openxmlformats.org/drawingml/2006/main" noGrp="1"/>
          </p:cNvSpPr>
          <p:nvPr/>
        </p:nvSpPr>
        <p:spPr>
          <a:xfrm xmlns:a="http://schemas.openxmlformats.org/drawingml/2006/main">
            <a:off x="8667750" y="3829050"/>
            <a:ext cx="381000" cy="381000"/>
          </a:xfrm>
          <a:prstGeom xmlns:a="http://schemas.openxmlformats.org/drawingml/2006/main" prst="rect">
            <a:avLst/>
          </a:prstGeom>
          <a:solidFill xmlns:a="http://schemas.openxmlformats.org/drawingml/2006/main">
            <a:srgbClr val="8F3D31"/>
          </a:solidFill>
          <a:ln xmlns:a="http://schemas.openxmlformats.org/drawingml/2006/main" w="47625">
            <a:solidFill>
              <a:srgbClr val="E9DECA"/>
            </a:solidFill>
            <a:prstDash val="solid"/>
          </a:ln>
        </p:spPr>
      </p:sp>
      <p:sp>
        <p:nvSpPr>
          <p:cNvPr id="15" name="">
            <a:extLst xmlns:a="http://schemas.openxmlformats.org/drawingml/2006/main">
              <a:ext uri="{FF2B5EF4-FFF2-40B4-BE49-F238E27FC236}">
                <a16:creationId xmlns:a16="http://schemas.microsoft.com/office/drawing/2014/main" id="{53DF4D43-A522-4EF1-B00B-2212AB8D92C3}"/>
              </a:ext>
            </a:extLst>
          </p:cNvPr>
          <p:cNvSpPr>
            <a:spLocks xmlns:a="http://schemas.openxmlformats.org/drawingml/2006/main" noGrp="1"/>
          </p:cNvSpPr>
          <p:nvPr/>
        </p:nvSpPr>
        <p:spPr>
          <a:xfrm xmlns:a="http://schemas.openxmlformats.org/drawingml/2006/main">
            <a:off x="8077200" y="3143250"/>
            <a:ext cx="157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301D17"/>
                </a:solidFill>
                <a:latin typeface="DejaVu Sans Mono"/>
                <a:ea typeface="DejaVu Sans Mono"/>
                <a:cs typeface="DejaVu Sans Mono"/>
              </a:defRPr>
            </a:pPr>
            <a:r>
              <a:rPr sz="1650" b="1" i="0">
                <a:solidFill>
                  <a:srgbClr val="301D17"/>
                </a:solidFill>
                <a:latin typeface="DejaVu Sans Mono"/>
                <a:ea typeface="DejaVu Sans Mono"/>
                <a:cs typeface="DejaVu Sans Mono"/>
              </a:rPr>
              <a:t>2023</a:t>
            </a:r>
          </a:p>
        </p:txBody>
      </p:sp>
      <p:sp>
        <p:nvSpPr>
          <p:cNvPr id="16" name="">
            <a:extLst xmlns:a="http://schemas.openxmlformats.org/drawingml/2006/main">
              <a:ext uri="{FF2B5EF4-FFF2-40B4-BE49-F238E27FC236}">
                <a16:creationId xmlns:a16="http://schemas.microsoft.com/office/drawing/2014/main" id="{BE7325B3-416A-4B60-92E6-3A4BC03458EA}"/>
              </a:ext>
            </a:extLst>
          </p:cNvPr>
          <p:cNvSpPr>
            <a:spLocks xmlns:a="http://schemas.openxmlformats.org/drawingml/2006/main" noGrp="1"/>
          </p:cNvSpPr>
          <p:nvPr/>
        </p:nvSpPr>
        <p:spPr>
          <a:xfrm xmlns:a="http://schemas.openxmlformats.org/drawingml/2006/main">
            <a:off x="7924800" y="4533900"/>
            <a:ext cx="1905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i="0">
                <a:solidFill>
                  <a:srgbClr val="4B2B20"/>
                </a:solidFill>
                <a:latin typeface="Liberation Sans"/>
                <a:ea typeface="Liberation Sans"/>
                <a:cs typeface="Liberation Sans"/>
              </a:defRPr>
            </a:pPr>
            <a:r>
              <a:rPr sz="1500" b="0" i="0">
                <a:solidFill>
                  <a:srgbClr val="4B2B20"/>
                </a:solidFill>
                <a:latin typeface="Liberation Sans"/>
                <a:ea typeface="Liberation Sans"/>
                <a:cs typeface="Liberation Sans"/>
              </a:rPr>
              <a:t>Moved to the</a:t>
            </a:r>
          </a:p>
          <a:p xmlns:a="http://schemas.openxmlformats.org/drawingml/2006/main">
            <a:pPr algn="ctr">
              <a:defRPr sz="1500" b="0" i="0">
                <a:solidFill>
                  <a:srgbClr val="4B2B20"/>
                </a:solidFill>
                <a:latin typeface="Liberation Sans"/>
                <a:ea typeface="Liberation Sans"/>
                <a:cs typeface="Liberation Sans"/>
              </a:defRPr>
            </a:pPr>
            <a:r>
              <a:rPr sz="1500" b="0" i="0">
                <a:solidFill>
                  <a:srgbClr val="4B2B20"/>
                </a:solidFill>
                <a:latin typeface="Liberation Sans"/>
                <a:ea typeface="Liberation Sans"/>
                <a:cs typeface="Liberation Sans"/>
              </a:rPr>
              <a:t>open regime</a:t>
            </a:r>
          </a:p>
        </p:txBody>
      </p:sp>
      <p:sp>
        <p:nvSpPr>
          <p:cNvPr id="17" name="">
            <a:extLst xmlns:a="http://schemas.openxmlformats.org/drawingml/2006/main">
              <a:ext uri="{FF2B5EF4-FFF2-40B4-BE49-F238E27FC236}">
                <a16:creationId xmlns:a16="http://schemas.microsoft.com/office/drawing/2014/main" id="{A12F7C3C-2744-4B9A-8A79-5D6411D3CE15}"/>
              </a:ext>
            </a:extLst>
          </p:cNvPr>
          <p:cNvSpPr>
            <a:spLocks xmlns:a="http://schemas.openxmlformats.org/drawingml/2006/main" noGrp="1"/>
          </p:cNvSpPr>
          <p:nvPr/>
        </p:nvSpPr>
        <p:spPr>
          <a:xfrm xmlns:a="http://schemas.openxmlformats.org/drawingml/2006/main">
            <a:off x="619125" y="609600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i="0">
                <a:solidFill>
                  <a:srgbClr val="766A60"/>
                </a:solidFill>
                <a:latin typeface="DejaVu Sans Mono"/>
                <a:ea typeface="DejaVu Sans Mono"/>
                <a:cs typeface="DejaVu Sans Mono"/>
              </a:defRPr>
            </a:pPr>
            <a:r>
              <a:rPr sz="1125" b="1" i="0">
                <a:solidFill>
                  <a:srgbClr val="766A60"/>
                </a:solidFill>
                <a:latin typeface="DejaVu Sans Mono"/>
                <a:ea typeface="DejaVu Sans Mono"/>
                <a:cs typeface="DejaVu Sans Mono"/>
              </a:rPr>
              <a:t>A legal and social case, not entertainment</a:t>
            </a:r>
          </a:p>
        </p:txBody>
      </p:sp>
    </p:spTree>
    <p:extLst>
      <p:ext uri="{BB962C8B-B14F-4D97-AF65-F5344CB8AC3E}">
        <p14:creationId xmlns:p14="http://schemas.microsoft.com/office/powerpoint/2010/main" val="450785189"/>
      </p:ext>
    </p:extLst>
  </p:cSld>
</p:sld>
</file>

<file path=ppt/slides/slide7.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c10665518d745b8"/>
          <a:srcRect xmlns:a="http://schemas.openxmlformats.org/drawingml/2006/main" l="6553" t="0" r="6553" b="0"/>
          <a:stretch xmlns:a="http://schemas.openxmlformats.org/drawingml/2006/main">
            <a:fillRect l="0" t="0" r="0" b="0"/>
          </a:stretch>
        </p:blipFill>
        <p:spPr>
          <a:xfrm xmlns:a="http://schemas.openxmlformats.org/drawingml/2006/main">
            <a:off x="6667500" y="1666875"/>
            <a:ext cx="4810125" cy="34766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A83DCEB-F31E-472F-9F81-DD1BD0CFEEC8}"/>
              </a:ext>
            </a:extLst>
          </p:cNvPr>
          <p:cNvSpPr>
            <a:spLocks xmlns:a="http://schemas.openxmlformats.org/drawingml/2006/main" noGrp="1"/>
          </p:cNvSpPr>
          <p:nvPr/>
        </p:nvSpPr>
        <p:spPr>
          <a:xfrm xmlns:a="http://schemas.openxmlformats.org/drawingml/2006/main">
            <a:off x="552450" y="323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2026 UPDATE</a:t>
            </a:r>
          </a:p>
        </p:txBody>
      </p:sp>
      <p:sp>
        <p:nvSpPr>
          <p:cNvPr id="3" name="">
            <a:extLst xmlns:a="http://schemas.openxmlformats.org/drawingml/2006/main">
              <a:ext uri="{FF2B5EF4-FFF2-40B4-BE49-F238E27FC236}">
                <a16:creationId xmlns:a16="http://schemas.microsoft.com/office/drawing/2014/main" id="{F41840D8-15F2-4B34-8AB8-1317E62E0FD6}"/>
              </a:ext>
            </a:extLst>
          </p:cNvPr>
          <p:cNvSpPr>
            <a:spLocks xmlns:a="http://schemas.openxmlformats.org/drawingml/2006/main" noGrp="1"/>
          </p:cNvSpPr>
          <p:nvPr/>
        </p:nvSpPr>
        <p:spPr>
          <a:xfrm xmlns:a="http://schemas.openxmlformats.org/drawingml/2006/main">
            <a:off x="10953750" y="25717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07</a:t>
            </a:r>
          </a:p>
        </p:txBody>
      </p:sp>
      <p:sp>
        <p:nvSpPr>
          <p:cNvPr id="4" name="">
            <a:extLst xmlns:a="http://schemas.openxmlformats.org/drawingml/2006/main">
              <a:ext uri="{FF2B5EF4-FFF2-40B4-BE49-F238E27FC236}">
                <a16:creationId xmlns:a16="http://schemas.microsoft.com/office/drawing/2014/main" id="{F87F2B30-233B-4619-B13C-47B5D8B70108}"/>
              </a:ext>
            </a:extLst>
          </p:cNvPr>
          <p:cNvSpPr>
            <a:spLocks xmlns:a="http://schemas.openxmlformats.org/drawingml/2006/main" noGrp="1"/>
          </p:cNvSpPr>
          <p:nvPr/>
        </p:nvSpPr>
        <p:spPr>
          <a:xfrm xmlns:a="http://schemas.openxmlformats.org/drawingml/2006/main">
            <a:off x="552450" y="742950"/>
            <a:ext cx="11087100" cy="0"/>
          </a:xfrm>
          <a:prstGeom xmlns:a="http://schemas.openxmlformats.org/drawingml/2006/main" prst="line">
            <a:avLst/>
          </a:prstGeom>
          <a:noFill xmlns:a="http://schemas.openxmlformats.org/drawingml/2006/main"/>
          <a:ln xmlns:a="http://schemas.openxmlformats.org/drawingml/2006/main" w="19050">
            <a:solidFill>
              <a:srgbClr val="4B2B20"/>
            </a:solidFill>
            <a:prstDash val="solid"/>
          </a:ln>
        </p:spPr>
      </p:sp>
      <p:sp>
        <p:nvSpPr>
          <p:cNvPr id="5" name="">
            <a:extLst xmlns:a="http://schemas.openxmlformats.org/drawingml/2006/main">
              <a:ext uri="{FF2B5EF4-FFF2-40B4-BE49-F238E27FC236}">
                <a16:creationId xmlns:a16="http://schemas.microsoft.com/office/drawing/2014/main" id="{94FF9447-D87F-4724-81C4-82C874AA59A9}"/>
              </a:ext>
            </a:extLst>
          </p:cNvPr>
          <p:cNvSpPr>
            <a:spLocks xmlns:a="http://schemas.openxmlformats.org/drawingml/2006/main" noGrp="1"/>
          </p:cNvSpPr>
          <p:nvPr/>
        </p:nvSpPr>
        <p:spPr>
          <a:xfrm xmlns:a="http://schemas.openxmlformats.org/drawingml/2006/main">
            <a:off x="552450" y="971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301D17"/>
                </a:solidFill>
                <a:latin typeface="Liberation Sans"/>
                <a:ea typeface="Liberation Sans"/>
                <a:cs typeface="Liberation Sans"/>
              </a:defRPr>
            </a:pPr>
            <a:r>
              <a:rPr sz="2850" b="1" i="0">
                <a:solidFill>
                  <a:srgbClr val="301D17"/>
                </a:solidFill>
                <a:latin typeface="Liberation Sans"/>
                <a:ea typeface="Liberation Sans"/>
                <a:cs typeface="Liberation Sans"/>
              </a:rPr>
              <a:t>The Prison Today</a:t>
            </a:r>
          </a:p>
        </p:txBody>
      </p:sp>
      <p:sp>
        <p:nvSpPr>
          <p:cNvPr id="6" name="">
            <a:extLst xmlns:a="http://schemas.openxmlformats.org/drawingml/2006/main">
              <a:ext uri="{FF2B5EF4-FFF2-40B4-BE49-F238E27FC236}">
                <a16:creationId xmlns:a16="http://schemas.microsoft.com/office/drawing/2014/main" id="{635D622A-69A1-4A3B-8724-1CE8BB3EA240}"/>
              </a:ext>
            </a:extLst>
          </p:cNvPr>
          <p:cNvSpPr>
            <a:spLocks xmlns:a="http://schemas.openxmlformats.org/drawingml/2006/main" noGrp="1"/>
          </p:cNvSpPr>
          <p:nvPr/>
        </p:nvSpPr>
        <p:spPr>
          <a:xfrm xmlns:a="http://schemas.openxmlformats.org/drawingml/2006/main">
            <a:off x="647700" y="180975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i="0">
                <a:solidFill>
                  <a:srgbClr val="301D17"/>
                </a:solidFill>
                <a:latin typeface="Liberation Sans"/>
                <a:ea typeface="Liberation Sans"/>
                <a:cs typeface="Liberation Sans"/>
              </a:defRPr>
            </a:pPr>
            <a:r>
              <a:rPr sz="3450" b="1" i="0">
                <a:solidFill>
                  <a:srgbClr val="301D17"/>
                </a:solidFill>
                <a:latin typeface="Liberation Sans"/>
                <a:ea typeface="Liberation Sans"/>
                <a:cs typeface="Liberation Sans"/>
              </a:rPr>
              <a:t>The complex</a:t>
            </a:r>
          </a:p>
          <a:p xmlns:a="http://schemas.openxmlformats.org/drawingml/2006/main">
            <a:pPr algn="l">
              <a:defRPr sz="3450" b="1" i="0">
                <a:solidFill>
                  <a:srgbClr val="301D17"/>
                </a:solidFill>
                <a:latin typeface="Liberation Sans"/>
                <a:ea typeface="Liberation Sans"/>
                <a:cs typeface="Liberation Sans"/>
              </a:defRPr>
            </a:pPr>
            <a:r>
              <a:rPr sz="3450" b="1" i="0">
                <a:solidFill>
                  <a:srgbClr val="301D17"/>
                </a:solidFill>
                <a:latin typeface="Liberation Sans"/>
                <a:ea typeface="Liberation Sans"/>
                <a:cs typeface="Liberation Sans"/>
              </a:rPr>
              <a:t>remains active</a:t>
            </a:r>
          </a:p>
        </p:txBody>
      </p:sp>
      <p:sp>
        <p:nvSpPr>
          <p:cNvPr id="7" name="">
            <a:extLst xmlns:a="http://schemas.openxmlformats.org/drawingml/2006/main">
              <a:ext uri="{FF2B5EF4-FFF2-40B4-BE49-F238E27FC236}">
                <a16:creationId xmlns:a16="http://schemas.microsoft.com/office/drawing/2014/main" id="{98D74E26-D01F-47DD-9656-488D7F416504}"/>
              </a:ext>
            </a:extLst>
          </p:cNvPr>
          <p:cNvSpPr>
            <a:spLocks xmlns:a="http://schemas.openxmlformats.org/drawingml/2006/main" noGrp="1"/>
          </p:cNvSpPr>
          <p:nvPr/>
        </p:nvSpPr>
        <p:spPr>
          <a:xfrm xmlns:a="http://schemas.openxmlformats.org/drawingml/2006/main">
            <a:off x="714375" y="3143250"/>
            <a:ext cx="5095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14300">
              <a:spcAft>
                <a:spcPts val="1500"/>
              </a:spcAft>
              <a:buChar char="•"/>
              <a:defRPr sz="1875">
                <a:solidFill>
                  <a:srgbClr val="301D17"/>
                </a:solidFill>
                <a:latin typeface="Liberation Sans"/>
                <a:ea typeface="Liberation Sans"/>
                <a:cs typeface="Liberation Sans"/>
              </a:defRPr>
            </a:pPr>
            <a:r>
              <a:rPr sz="1875">
                <a:solidFill>
                  <a:srgbClr val="301D17"/>
                </a:solidFill>
                <a:latin typeface="Liberation Sans"/>
                <a:ea typeface="Liberation Sans"/>
                <a:cs typeface="Liberation Sans"/>
              </a:rPr>
              <a:t>Several high-profile inmates transferred</a:t>
            </a:r>
          </a:p>
          <a:p xmlns:a="http://schemas.openxmlformats.org/drawingml/2006/main">
            <a:pPr marL="241300" indent="-114300">
              <a:spcAft>
                <a:spcPts val="1500"/>
              </a:spcAft>
              <a:buChar char="•"/>
              <a:defRPr sz="1875">
                <a:solidFill>
                  <a:srgbClr val="301D17"/>
                </a:solidFill>
                <a:latin typeface="Liberation Sans"/>
                <a:ea typeface="Liberation Sans"/>
                <a:cs typeface="Liberation Sans"/>
              </a:defRPr>
            </a:pPr>
            <a:r>
              <a:rPr sz="1875">
                <a:solidFill>
                  <a:srgbClr val="301D17"/>
                </a:solidFill>
                <a:latin typeface="Liberation Sans"/>
                <a:ea typeface="Liberation Sans"/>
                <a:cs typeface="Liberation Sans"/>
              </a:rPr>
              <a:t>The special concentration began to end</a:t>
            </a:r>
          </a:p>
          <a:p xmlns:a="http://schemas.openxmlformats.org/drawingml/2006/main">
            <a:pPr marL="241300" indent="-114300">
              <a:spcAft>
                <a:spcPts val="1500"/>
              </a:spcAft>
              <a:buChar char="•"/>
              <a:defRPr sz="1875">
                <a:solidFill>
                  <a:srgbClr val="301D17"/>
                </a:solidFill>
                <a:latin typeface="Liberation Sans"/>
                <a:ea typeface="Liberation Sans"/>
                <a:cs typeface="Liberation Sans"/>
              </a:defRPr>
            </a:pPr>
            <a:r>
              <a:rPr sz="1875">
                <a:solidFill>
                  <a:srgbClr val="301D17"/>
                </a:solidFill>
                <a:latin typeface="Liberation Sans"/>
                <a:ea typeface="Liberation Sans"/>
                <a:cs typeface="Liberation Sans"/>
              </a:rPr>
              <a:t>Tremembé's public image still remains</a:t>
            </a:r>
          </a:p>
        </p:txBody>
      </p:sp>
      <p:sp>
        <p:nvSpPr>
          <p:cNvPr id="8" name="">
            <a:extLst xmlns:a="http://schemas.openxmlformats.org/drawingml/2006/main">
              <a:ext uri="{FF2B5EF4-FFF2-40B4-BE49-F238E27FC236}">
                <a16:creationId xmlns:a16="http://schemas.microsoft.com/office/drawing/2014/main" id="{58A31860-887D-488B-8347-F0101C5AB580}"/>
              </a:ext>
            </a:extLst>
          </p:cNvPr>
          <p:cNvSpPr>
            <a:spLocks xmlns:a="http://schemas.openxmlformats.org/drawingml/2006/main" noGrp="1"/>
          </p:cNvSpPr>
          <p:nvPr/>
        </p:nvSpPr>
        <p:spPr>
          <a:xfrm xmlns:a="http://schemas.openxmlformats.org/drawingml/2006/main">
            <a:off x="8096250" y="4667250"/>
            <a:ext cx="2857500" cy="838200"/>
          </a:xfrm>
          <a:prstGeom xmlns:a="http://schemas.openxmlformats.org/drawingml/2006/main" prst="rect">
            <a:avLst/>
          </a:prstGeom>
          <a:solidFill xmlns:a="http://schemas.openxmlformats.org/drawingml/2006/main">
            <a:srgbClr val="8F3D3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40A2C88-F869-4707-9FFD-911D0CDBE2FF}"/>
              </a:ext>
            </a:extLst>
          </p:cNvPr>
          <p:cNvSpPr>
            <a:spLocks xmlns:a="http://schemas.openxmlformats.org/drawingml/2006/main" noGrp="1"/>
          </p:cNvSpPr>
          <p:nvPr/>
        </p:nvSpPr>
        <p:spPr>
          <a:xfrm xmlns:a="http://schemas.openxmlformats.org/drawingml/2006/main">
            <a:off x="8172450" y="4886325"/>
            <a:ext cx="2714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FFF9EF"/>
                </a:solidFill>
                <a:latin typeface="DejaVu Sans Mono"/>
                <a:ea typeface="DejaVu Sans Mono"/>
                <a:cs typeface="DejaVu Sans Mono"/>
              </a:defRPr>
            </a:pPr>
            <a:r>
              <a:rPr sz="1650" b="1" i="0">
                <a:solidFill>
                  <a:srgbClr val="FFF9EF"/>
                </a:solidFill>
                <a:latin typeface="DejaVu Sans Mono"/>
                <a:ea typeface="DejaVu Sans Mono"/>
                <a:cs typeface="DejaVu Sans Mono"/>
              </a:rPr>
              <a:t>ROLE CHANGING</a:t>
            </a:r>
          </a:p>
        </p:txBody>
      </p:sp>
      <p:sp>
        <p:nvSpPr>
          <p:cNvPr id="10" name="">
            <a:extLst xmlns:a="http://schemas.openxmlformats.org/drawingml/2006/main">
              <a:ext uri="{FF2B5EF4-FFF2-40B4-BE49-F238E27FC236}">
                <a16:creationId xmlns:a16="http://schemas.microsoft.com/office/drawing/2014/main" id="{F72097B8-FE9C-4C45-851D-CB053399887E}"/>
              </a:ext>
            </a:extLst>
          </p:cNvPr>
          <p:cNvSpPr>
            <a:spLocks xmlns:a="http://schemas.openxmlformats.org/drawingml/2006/main" noGrp="1"/>
          </p:cNvSpPr>
          <p:nvPr/>
        </p:nvSpPr>
        <p:spPr>
          <a:xfrm xmlns:a="http://schemas.openxmlformats.org/drawingml/2006/main">
            <a:off x="666750" y="60007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i="0">
                <a:solidFill>
                  <a:srgbClr val="766A60"/>
                </a:solidFill>
                <a:latin typeface="DejaVu Sans Mono"/>
                <a:ea typeface="DejaVu Sans Mono"/>
                <a:cs typeface="DejaVu Sans Mono"/>
              </a:defRPr>
            </a:pPr>
            <a:r>
              <a:rPr sz="1125" b="0" i="0">
                <a:solidFill>
                  <a:srgbClr val="766A60"/>
                </a:solidFill>
                <a:latin typeface="DejaVu Sans Mono"/>
                <a:ea typeface="DejaVu Sans Mono"/>
                <a:cs typeface="DejaVu Sans Mono"/>
              </a:rPr>
              <a:t>Reports in January 2026 described a new distribution policy for notable prisoners.</a:t>
            </a:r>
          </a:p>
        </p:txBody>
      </p:sp>
    </p:spTree>
    <p:extLst>
      <p:ext uri="{BB962C8B-B14F-4D97-AF65-F5344CB8AC3E}">
        <p14:creationId xmlns:p14="http://schemas.microsoft.com/office/powerpoint/2010/main" val="1944164950"/>
      </p:ext>
    </p:extLst>
  </p:cSld>
</p:sld>
</file>

<file path=ppt/slides/slide8.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DE30E74-9D9C-4169-9AA5-89F407AB1A64}"/>
              </a:ext>
            </a:extLst>
          </p:cNvPr>
          <p:cNvSpPr>
            <a:spLocks xmlns:a="http://schemas.openxmlformats.org/drawingml/2006/main" noGrp="1"/>
          </p:cNvSpPr>
          <p:nvPr/>
        </p:nvSpPr>
        <p:spPr>
          <a:xfrm xmlns:a="http://schemas.openxmlformats.org/drawingml/2006/main">
            <a:off x="552450" y="323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TREMEMBÉ PRISON</a:t>
            </a:r>
          </a:p>
        </p:txBody>
      </p:sp>
      <p:sp>
        <p:nvSpPr>
          <p:cNvPr id="2" name="">
            <a:extLst xmlns:a="http://schemas.openxmlformats.org/drawingml/2006/main">
              <a:ext uri="{FF2B5EF4-FFF2-40B4-BE49-F238E27FC236}">
                <a16:creationId xmlns:a16="http://schemas.microsoft.com/office/drawing/2014/main" id="{958CCBF3-2C8F-49CB-AE4F-124DE030888B}"/>
              </a:ext>
            </a:extLst>
          </p:cNvPr>
          <p:cNvSpPr>
            <a:spLocks xmlns:a="http://schemas.openxmlformats.org/drawingml/2006/main" noGrp="1"/>
          </p:cNvSpPr>
          <p:nvPr/>
        </p:nvSpPr>
        <p:spPr>
          <a:xfrm xmlns:a="http://schemas.openxmlformats.org/drawingml/2006/main">
            <a:off x="10953750" y="25717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08</a:t>
            </a:r>
          </a:p>
        </p:txBody>
      </p:sp>
      <p:sp>
        <p:nvSpPr>
          <p:cNvPr id="3" name="">
            <a:extLst xmlns:a="http://schemas.openxmlformats.org/drawingml/2006/main">
              <a:ext uri="{FF2B5EF4-FFF2-40B4-BE49-F238E27FC236}">
                <a16:creationId xmlns:a16="http://schemas.microsoft.com/office/drawing/2014/main" id="{7B02E3B1-17E1-4F8A-86D9-62A2CDBD83C3}"/>
              </a:ext>
            </a:extLst>
          </p:cNvPr>
          <p:cNvSpPr>
            <a:spLocks xmlns:a="http://schemas.openxmlformats.org/drawingml/2006/main" noGrp="1"/>
          </p:cNvSpPr>
          <p:nvPr/>
        </p:nvSpPr>
        <p:spPr>
          <a:xfrm xmlns:a="http://schemas.openxmlformats.org/drawingml/2006/main">
            <a:off x="552450" y="742950"/>
            <a:ext cx="11087100" cy="0"/>
          </a:xfrm>
          <a:prstGeom xmlns:a="http://schemas.openxmlformats.org/drawingml/2006/main" prst="line">
            <a:avLst/>
          </a:prstGeom>
          <a:noFill xmlns:a="http://schemas.openxmlformats.org/drawingml/2006/main"/>
          <a:ln xmlns:a="http://schemas.openxmlformats.org/drawingml/2006/main" w="19050">
            <a:solidFill>
              <a:srgbClr val="4B2B20"/>
            </a:solidFill>
            <a:prstDash val="solid"/>
          </a:ln>
        </p:spPr>
      </p:sp>
      <p:sp>
        <p:nvSpPr>
          <p:cNvPr id="4" name="">
            <a:extLst xmlns:a="http://schemas.openxmlformats.org/drawingml/2006/main">
              <a:ext uri="{FF2B5EF4-FFF2-40B4-BE49-F238E27FC236}">
                <a16:creationId xmlns:a16="http://schemas.microsoft.com/office/drawing/2014/main" id="{AF4E2702-7C5E-4458-AED1-8EA87FB90515}"/>
              </a:ext>
            </a:extLst>
          </p:cNvPr>
          <p:cNvSpPr>
            <a:spLocks xmlns:a="http://schemas.openxmlformats.org/drawingml/2006/main" noGrp="1"/>
          </p:cNvSpPr>
          <p:nvPr/>
        </p:nvSpPr>
        <p:spPr>
          <a:xfrm xmlns:a="http://schemas.openxmlformats.org/drawingml/2006/main">
            <a:off x="552450" y="971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301D17"/>
                </a:solidFill>
                <a:latin typeface="Liberation Sans"/>
                <a:ea typeface="Liberation Sans"/>
                <a:cs typeface="Liberation Sans"/>
              </a:defRPr>
            </a:pPr>
            <a:r>
              <a:rPr sz="2850" b="1" i="0">
                <a:solidFill>
                  <a:srgbClr val="301D17"/>
                </a:solidFill>
                <a:latin typeface="Liberation Sans"/>
                <a:ea typeface="Liberation Sans"/>
                <a:cs typeface="Liberation Sans"/>
              </a:rPr>
              <a:t>Conclusion &amp; Sources</a:t>
            </a:r>
          </a:p>
        </p:txBody>
      </p:sp>
      <p:sp>
        <p:nvSpPr>
          <p:cNvPr id="5" name="">
            <a:extLst xmlns:a="http://schemas.openxmlformats.org/drawingml/2006/main">
              <a:ext uri="{FF2B5EF4-FFF2-40B4-BE49-F238E27FC236}">
                <a16:creationId xmlns:a16="http://schemas.microsoft.com/office/drawing/2014/main" id="{73D149E5-72E5-4C41-B6D8-B7909D216A3E}"/>
              </a:ext>
            </a:extLst>
          </p:cNvPr>
          <p:cNvSpPr>
            <a:spLocks xmlns:a="http://schemas.openxmlformats.org/drawingml/2006/main" noGrp="1"/>
          </p:cNvSpPr>
          <p:nvPr/>
        </p:nvSpPr>
        <p:spPr>
          <a:xfrm xmlns:a="http://schemas.openxmlformats.org/drawingml/2006/main">
            <a:off x="628650" y="17145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i="0">
                <a:solidFill>
                  <a:srgbClr val="301D17"/>
                </a:solidFill>
                <a:latin typeface="Liberation Sans"/>
                <a:ea typeface="Liberation Sans"/>
                <a:cs typeface="Liberation Sans"/>
              </a:defRPr>
            </a:pPr>
            <a:r>
              <a:rPr sz="2250" b="1" i="0">
                <a:solidFill>
                  <a:srgbClr val="301D17"/>
                </a:solidFill>
                <a:latin typeface="Liberation Sans"/>
                <a:ea typeface="Liberation Sans"/>
                <a:cs typeface="Liberation Sans"/>
              </a:rPr>
              <a:t>Tremembé became famous because security decisions brought several high-profile inmates to the same complex.</a:t>
            </a:r>
          </a:p>
        </p:txBody>
      </p:sp>
      <p:sp>
        <p:nvSpPr>
          <p:cNvPr id="6" name="">
            <a:extLst xmlns:a="http://schemas.openxmlformats.org/drawingml/2006/main">
              <a:ext uri="{FF2B5EF4-FFF2-40B4-BE49-F238E27FC236}">
                <a16:creationId xmlns:a16="http://schemas.microsoft.com/office/drawing/2014/main" id="{B8D3947A-D55E-442A-9FBA-A4B04AAAC2AF}"/>
              </a:ext>
            </a:extLst>
          </p:cNvPr>
          <p:cNvSpPr>
            <a:spLocks xmlns:a="http://schemas.openxmlformats.org/drawingml/2006/main" noGrp="1"/>
          </p:cNvSpPr>
          <p:nvPr/>
        </p:nvSpPr>
        <p:spPr>
          <a:xfrm xmlns:a="http://schemas.openxmlformats.org/drawingml/2006/main">
            <a:off x="628650" y="2686050"/>
            <a:ext cx="10839450" cy="0"/>
          </a:xfrm>
          <a:prstGeom xmlns:a="http://schemas.openxmlformats.org/drawingml/2006/main" prst="line">
            <a:avLst/>
          </a:prstGeom>
          <a:noFill xmlns:a="http://schemas.openxmlformats.org/drawingml/2006/main"/>
          <a:ln xmlns:a="http://schemas.openxmlformats.org/drawingml/2006/main" w="38100">
            <a:solidFill>
              <a:srgbClr val="B78B4D"/>
            </a:solidFill>
            <a:prstDash val="solid"/>
          </a:ln>
        </p:spPr>
      </p:sp>
      <p:sp>
        <p:nvSpPr>
          <p:cNvPr id="7" name="">
            <a:extLst xmlns:a="http://schemas.openxmlformats.org/drawingml/2006/main">
              <a:ext uri="{FF2B5EF4-FFF2-40B4-BE49-F238E27FC236}">
                <a16:creationId xmlns:a16="http://schemas.microsoft.com/office/drawing/2014/main" id="{1F8C324D-04A8-4A1D-B4C2-7E1833D9CC73}"/>
              </a:ext>
            </a:extLst>
          </p:cNvPr>
          <p:cNvSpPr>
            <a:spLocks xmlns:a="http://schemas.openxmlformats.org/drawingml/2006/main" noGrp="1"/>
          </p:cNvSpPr>
          <p:nvPr/>
        </p:nvSpPr>
        <p:spPr>
          <a:xfrm xmlns:a="http://schemas.openxmlformats.org/drawingml/2006/main">
            <a:off x="628650" y="2952750"/>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8F3D31"/>
                </a:solidFill>
                <a:latin typeface="DejaVu Sans Mono"/>
                <a:ea typeface="DejaVu Sans Mono"/>
                <a:cs typeface="DejaVu Sans Mono"/>
              </a:defRPr>
            </a:pPr>
            <a:r>
              <a:rPr sz="1200" b="1" i="0">
                <a:solidFill>
                  <a:srgbClr val="8F3D31"/>
                </a:solidFill>
                <a:latin typeface="DejaVu Sans Mono"/>
                <a:ea typeface="DejaVu Sans Mono"/>
                <a:cs typeface="DejaVu Sans Mono"/>
              </a:rPr>
              <a:t>Its history connects three public debates:</a:t>
            </a:r>
          </a:p>
        </p:txBody>
      </p:sp>
      <p:sp>
        <p:nvSpPr>
          <p:cNvPr id="8" name="">
            <a:extLst xmlns:a="http://schemas.openxmlformats.org/drawingml/2006/main">
              <a:ext uri="{FF2B5EF4-FFF2-40B4-BE49-F238E27FC236}">
                <a16:creationId xmlns:a16="http://schemas.microsoft.com/office/drawing/2014/main" id="{CB5AE8E5-3E8C-451B-90C7-88604E7113FA}"/>
              </a:ext>
            </a:extLst>
          </p:cNvPr>
          <p:cNvSpPr>
            <a:spLocks xmlns:a="http://schemas.openxmlformats.org/drawingml/2006/main" noGrp="1"/>
          </p:cNvSpPr>
          <p:nvPr/>
        </p:nvSpPr>
        <p:spPr>
          <a:xfrm xmlns:a="http://schemas.openxmlformats.org/drawingml/2006/main">
            <a:off x="666750" y="3524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PRISON SECURITY</a:t>
            </a:r>
          </a:p>
        </p:txBody>
      </p:sp>
      <p:sp>
        <p:nvSpPr>
          <p:cNvPr id="9" name="">
            <a:extLst xmlns:a="http://schemas.openxmlformats.org/drawingml/2006/main">
              <a:ext uri="{FF2B5EF4-FFF2-40B4-BE49-F238E27FC236}">
                <a16:creationId xmlns:a16="http://schemas.microsoft.com/office/drawing/2014/main" id="{BFD3A6BE-0CF1-43CA-A5D5-D7DF47BEA2BB}"/>
              </a:ext>
            </a:extLst>
          </p:cNvPr>
          <p:cNvSpPr>
            <a:spLocks xmlns:a="http://schemas.openxmlformats.org/drawingml/2006/main" noGrp="1"/>
          </p:cNvSpPr>
          <p:nvPr/>
        </p:nvSpPr>
        <p:spPr>
          <a:xfrm xmlns:a="http://schemas.openxmlformats.org/drawingml/2006/main">
            <a:off x="4476750" y="3524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MEDIA ATTENTION</a:t>
            </a:r>
          </a:p>
        </p:txBody>
      </p:sp>
      <p:sp>
        <p:nvSpPr>
          <p:cNvPr id="10" name="">
            <a:extLst xmlns:a="http://schemas.openxmlformats.org/drawingml/2006/main">
              <a:ext uri="{FF2B5EF4-FFF2-40B4-BE49-F238E27FC236}">
                <a16:creationId xmlns:a16="http://schemas.microsoft.com/office/drawing/2014/main" id="{E733ED94-5F37-48FF-AA6A-9021A13A39E7}"/>
              </a:ext>
            </a:extLst>
          </p:cNvPr>
          <p:cNvSpPr>
            <a:spLocks xmlns:a="http://schemas.openxmlformats.org/drawingml/2006/main" noGrp="1"/>
          </p:cNvSpPr>
          <p:nvPr/>
        </p:nvSpPr>
        <p:spPr>
          <a:xfrm xmlns:a="http://schemas.openxmlformats.org/drawingml/2006/main">
            <a:off x="8334375" y="35242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REHABILITATION</a:t>
            </a:r>
          </a:p>
        </p:txBody>
      </p:sp>
      <p:sp>
        <p:nvSpPr>
          <p:cNvPr id="11" name="">
            <a:extLst xmlns:a="http://schemas.openxmlformats.org/drawingml/2006/main">
              <a:ext uri="{FF2B5EF4-FFF2-40B4-BE49-F238E27FC236}">
                <a16:creationId xmlns:a16="http://schemas.microsoft.com/office/drawing/2014/main" id="{900F474D-31BA-4756-8557-F803C427FCE6}"/>
              </a:ext>
            </a:extLst>
          </p:cNvPr>
          <p:cNvSpPr>
            <a:spLocks xmlns:a="http://schemas.openxmlformats.org/drawingml/2006/main" noGrp="1"/>
          </p:cNvSpPr>
          <p:nvPr/>
        </p:nvSpPr>
        <p:spPr>
          <a:xfrm xmlns:a="http://schemas.openxmlformats.org/drawingml/2006/main">
            <a:off x="647700" y="44291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301D17"/>
                </a:solidFill>
                <a:latin typeface="Liberation Sans"/>
                <a:ea typeface="Liberation Sans"/>
                <a:cs typeface="Liberation Sans"/>
              </a:defRPr>
            </a:pPr>
            <a:r>
              <a:rPr sz="1650" b="1" i="0">
                <a:solidFill>
                  <a:srgbClr val="301D17"/>
                </a:solidFill>
                <a:latin typeface="Liberation Sans"/>
                <a:ea typeface="Liberation Sans"/>
                <a:cs typeface="Liberation Sans"/>
              </a:rPr>
              <a:t>Sources</a:t>
            </a:r>
          </a:p>
        </p:txBody>
      </p:sp>
      <p:sp>
        <p:nvSpPr>
          <p:cNvPr id="12" name="">
            <a:extLst xmlns:a="http://schemas.openxmlformats.org/drawingml/2006/main">
              <a:ext uri="{FF2B5EF4-FFF2-40B4-BE49-F238E27FC236}">
                <a16:creationId xmlns:a16="http://schemas.microsoft.com/office/drawing/2014/main" id="{F49F5AA5-D3B5-4747-848B-19617E31FD8A}"/>
              </a:ext>
            </a:extLst>
          </p:cNvPr>
          <p:cNvSpPr>
            <a:spLocks xmlns:a="http://schemas.openxmlformats.org/drawingml/2006/main" noGrp="1"/>
          </p:cNvSpPr>
          <p:nvPr/>
        </p:nvSpPr>
        <p:spPr>
          <a:xfrm xmlns:a="http://schemas.openxmlformats.org/drawingml/2006/main">
            <a:off x="647700" y="4857750"/>
            <a:ext cx="1071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4B2B20"/>
                </a:solidFill>
                <a:latin typeface="Liberation Sans"/>
                <a:ea typeface="Liberation Sans"/>
                <a:cs typeface="Liberation Sans"/>
              </a:defRPr>
            </a:pPr>
            <a:r>
              <a:rPr sz="1350" b="0" i="0">
                <a:solidFill>
                  <a:srgbClr val="4B2B20"/>
                </a:solidFill>
                <a:latin typeface="Liberation Sans"/>
                <a:ea typeface="Liberation Sans"/>
                <a:cs typeface="Liberation Sans"/>
              </a:rPr>
              <a:t>São Paulo State Prison Administration (SAP): prison units, inauguration list and prison garden report</a:t>
            </a:r>
          </a:p>
          <a:p xmlns:a="http://schemas.openxmlformats.org/drawingml/2006/main">
            <a:pPr algn="l">
              <a:defRPr sz="1350" b="0" i="0">
                <a:solidFill>
                  <a:srgbClr val="4B2B20"/>
                </a:solidFill>
                <a:latin typeface="Liberation Sans"/>
                <a:ea typeface="Liberation Sans"/>
                <a:cs typeface="Liberation Sans"/>
              </a:defRPr>
            </a:pPr>
            <a:r>
              <a:rPr sz="1350" b="0" i="0">
                <a:solidFill>
                  <a:srgbClr val="4B2B20"/>
                </a:solidFill>
                <a:latin typeface="Liberation Sans"/>
                <a:ea typeface="Liberation Sans"/>
                <a:cs typeface="Liberation Sans"/>
              </a:rPr>
              <a:t>CNN Brasil: Tremembé and the origin of its nickname, Aug. 22, 2025</a:t>
            </a:r>
          </a:p>
          <a:p xmlns:a="http://schemas.openxmlformats.org/drawingml/2006/main">
            <a:pPr algn="l">
              <a:defRPr sz="1350" b="0" i="0">
                <a:solidFill>
                  <a:srgbClr val="4B2B20"/>
                </a:solidFill>
                <a:latin typeface="Liberation Sans"/>
                <a:ea typeface="Liberation Sans"/>
                <a:cs typeface="Liberation Sans"/>
              </a:defRPr>
            </a:pPr>
            <a:r>
              <a:rPr sz="1350" b="0" i="0">
                <a:solidFill>
                  <a:srgbClr val="4B2B20"/>
                </a:solidFill>
                <a:latin typeface="Liberation Sans"/>
                <a:ea typeface="Liberation Sans"/>
                <a:cs typeface="Liberation Sans"/>
              </a:rPr>
              <a:t>CNN Brasil: transfers and the end of the special wing, Jan. 13, 2026</a:t>
            </a:r>
          </a:p>
        </p:txBody>
      </p:sp>
      <p:sp>
        <p:nvSpPr>
          <p:cNvPr id="13" name="">
            <a:extLst xmlns:a="http://schemas.openxmlformats.org/drawingml/2006/main">
              <a:ext uri="{FF2B5EF4-FFF2-40B4-BE49-F238E27FC236}">
                <a16:creationId xmlns:a16="http://schemas.microsoft.com/office/drawing/2014/main" id="{093A2CCC-CE42-40C3-B97D-2F0427A57E15}"/>
              </a:ext>
            </a:extLst>
          </p:cNvPr>
          <p:cNvSpPr>
            <a:spLocks xmlns:a="http://schemas.openxmlformats.org/drawingml/2006/main" noGrp="1"/>
          </p:cNvSpPr>
          <p:nvPr/>
        </p:nvSpPr>
        <p:spPr>
          <a:xfrm xmlns:a="http://schemas.openxmlformats.org/drawingml/2006/main">
            <a:off x="962025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Thank you</a:t>
            </a:r>
          </a:p>
        </p:txBody>
      </p:sp>
    </p:spTree>
    <p:extLst>
      <p:ext uri="{BB962C8B-B14F-4D97-AF65-F5344CB8AC3E}">
        <p14:creationId xmlns:p14="http://schemas.microsoft.com/office/powerpoint/2010/main" val="7723710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2026-09-21T15:49:22.5170000Z</dcterms:created>
  <dcterms:modified xsi:type="dcterms:W3CDTF">2026-09-21T15:49:22.5170000Z</dcterms:modified>
</coreProperties>
</file>